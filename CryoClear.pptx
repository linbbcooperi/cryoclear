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CryoClear is an open, real-time particle-picking and junk-triage copilot for cryo-EM that runs on a single GPU and learns from the scientist live. The novelty is the product, not a new picking model: interactive, measurable, human-in-the-loop junk removal as data streams in. Built this weekend at QBI 2026, MIT-licensed, by a CS, hardware, and chemistry team.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Auto-pickers like Topaz over-pick junk, and cleaning ice, carbon edges, and aggregates today is manual and post-hoc. Real-time platforms like cryoSPARC Live and Warp exist but use simple pickers and are heavy and closed. Nobody ships an open, interactive, real-time junk-triage copilot with a live human-in-the-loop learning loop, and that's the gap we fill.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is simple end to end: an MRC micrograph streams in, a swappable picker proposes candidate boxes, our junk classifier paints each keep or junk, the scientist corrects on the canvas, the classifier learns live, and you export a clean particle set plus 2D class averages. Every stage is a real module in the repo. This is the spine of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same pipeline as a system diagram, with the real module names. Three things to watch for: the picker is swappable (blob, Topaz, CryoSegNet), the junk classifier is the central novel piece, and the correction feedback loop runs from the UI back into the classifier. That feedback arrow is our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band-pass blob detector finds candidates on CPU in seconds, no GPU required for the demo path. For each candidate we compute 23 intensity-normalized features: radial profile, edge coherence, sharpness. The classifier then paints keep versus junk live on the canvas, green and red, as you watch.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kept set gets measurably purer. In-sample on EMPIAR-10017: about +0.09 purity, precision 0.36 to 0.49, and roughly 27% junk removed at the demo threshold with recall essentially unchanged. Held-out, the LightGBM junk-rejection F1 is 0.47 to 0.64 and picking F1 is 0.37 to 0.38 — the honest floor. Be clear about the ceiling: on beta-gal, picking-F1 after triage is about the same as raw, because the leftover false positives are background that genuinely resembles particles — the kind of thing 2D classification, not the picker, resolves. The value is purity and a clean kept set, and every number is tagged in-sample or held-out.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validate against CryoPPP ground truth on held-out micrographs, reporting precision, recall, and F1 so the numbers are reproducible, not cherry-picked. Published deep-learning pickers land around 0.73 F1, which we show purely for context, not as a head-to-head claim. Our contribution is the triage layer on top of whatever picker you choose, not beating those pickers.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classifier cold-starts junk-blind, knowing nothing. The scientist box-brushes keep and dump corrections on the canvas, the classifier refits in under a second, and held-out junk-rejection F1 climbs as you teach it. Undo/redo is supported, and the improved model flows straight through to export. This is the human-in-the-loop loop working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modular: pickers swap between blob, Topaz, and CryoSegNet; classifiers swap between LightGBM, RandomForest, online SGD, and a CNN; datasets cover beta-gal, TMV, and proteasome, plus upload-your-own MRC. Export goes to .star, .box, PNG, and PDF, so it drops into RELION or cryoSPARC. It's a platform, not a one-off demo.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run reference-free 2D classification on the kept particles: iterative rotational and translational alignment, then k-means clustering on band-pass crops — no CTF and no ML model. Be honest: beta-gal won't hit textbook crispness without thousands of particles and CTF correction. It's a directional proof that closes the loop from raw micrograph to interpretable averages, not a final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explicitly do not claim a novel picking model or a new ML algorithm; the picker and the classifier families are standard. The contribution is the product: interactive real-time junk triage with a live learning loop, open and measurable on a single GPU. On the rubric, that's strong on impact, execution, and novelty-as-product, with a genuinely cross-disciplinary CS, hardware, and chemistry team.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CryoClear is open source under MIT, runs on a single GPU, and was built by a team spanning CS, hardware, and chemistry. We turn slow, manual, post-hoc junk cleaning into an interactive copilot that learns from the scientist live. Try it, swap in your own picker or dataset, and tell us what to clean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508760"/>
            <a:ext cx="10820095" cy="365760"/>
          </a:xfrm>
          <a:prstGeom prst="rect">
            <a:avLst/>
          </a:prstGeom>
          <a:noFill/>
        </p:spPr>
        <p:txBody>
          <a:bodyPr wrap="square" anchor="t" lIns="0" rIns="0" tIns="0" bIns="0">
            <a:spAutoFit/>
          </a:bodyPr>
          <a:lstStyle/>
          <a:p>
            <a:r>
              <a:rPr sz="1250" b="1" i="0">
                <a:solidFill>
                  <a:srgbClr val="4EA1FF"/>
                </a:solidFill>
                <a:latin typeface="Arial"/>
              </a:rPr>
              <a:t>QBI HACKATHON 2026 · UCSF MISSION BAY · MIT-LICENSED</a:t>
            </a:r>
          </a:p>
        </p:txBody>
      </p:sp>
      <p:sp>
        <p:nvSpPr>
          <p:cNvPr id="4" name="TextBox 3"/>
          <p:cNvSpPr txBox="1"/>
          <p:nvPr/>
        </p:nvSpPr>
        <p:spPr>
          <a:xfrm>
            <a:off x="685800" y="1920240"/>
            <a:ext cx="10820095" cy="1188720"/>
          </a:xfrm>
          <a:prstGeom prst="rect">
            <a:avLst/>
          </a:prstGeom>
          <a:noFill/>
        </p:spPr>
        <p:txBody>
          <a:bodyPr wrap="square" anchor="t" lIns="0" rIns="0" tIns="0" bIns="0">
            <a:spAutoFit/>
          </a:bodyPr>
          <a:lstStyle/>
          <a:p>
            <a:r>
              <a:rPr sz="5800" b="1" i="0">
                <a:solidFill>
                  <a:srgbClr val="EAF1F9"/>
                </a:solidFill>
                <a:latin typeface="Arial"/>
              </a:rPr>
              <a:t>Cryo</a:t>
            </a:r>
            <a:r>
              <a:rPr sz="5800" b="1" i="0">
                <a:solidFill>
                  <a:srgbClr val="2AD29B"/>
                </a:solidFill>
                <a:latin typeface="Arial"/>
              </a:rPr>
              <a:t>Clear</a:t>
            </a:r>
          </a:p>
        </p:txBody>
      </p:sp>
      <p:sp>
        <p:nvSpPr>
          <p:cNvPr id="5" name="TextBox 4"/>
          <p:cNvSpPr txBox="1"/>
          <p:nvPr/>
        </p:nvSpPr>
        <p:spPr>
          <a:xfrm>
            <a:off x="685800" y="3154680"/>
            <a:ext cx="6708459" cy="914400"/>
          </a:xfrm>
          <a:prstGeom prst="rect">
            <a:avLst/>
          </a:prstGeom>
          <a:noFill/>
        </p:spPr>
        <p:txBody>
          <a:bodyPr wrap="square" anchor="t" lIns="0" rIns="0" tIns="0" bIns="0">
            <a:spAutoFit/>
          </a:bodyPr>
          <a:lstStyle/>
          <a:p>
            <a:pPr>
              <a:lnSpc>
                <a:spcPct val="105000"/>
              </a:lnSpc>
            </a:pPr>
            <a:r>
              <a:rPr sz="2300" b="1" i="0">
                <a:solidFill>
                  <a:srgbClr val="EAF1F9"/>
                </a:solidFill>
                <a:latin typeface="Arial"/>
              </a:rPr>
              <a:t>The open, real-time particle-picking </a:t>
            </a:r>
            <a:r>
              <a:rPr sz="2300" b="1" i="0">
                <a:solidFill>
                  <a:srgbClr val="2AD29B"/>
                </a:solidFill>
                <a:latin typeface="Arial"/>
              </a:rPr>
              <a:t>+ junk-triage</a:t>
            </a:r>
            <a:r>
              <a:rPr sz="2300" b="1" i="0">
                <a:solidFill>
                  <a:srgbClr val="EAF1F9"/>
                </a:solidFill>
                <a:latin typeface="Arial"/>
              </a:rPr>
              <a:t> copilot for cryo-EM.</a:t>
            </a:r>
          </a:p>
        </p:txBody>
      </p:sp>
      <p:sp>
        <p:nvSpPr>
          <p:cNvPr id="6" name="TextBox 5"/>
          <p:cNvSpPr txBox="1"/>
          <p:nvPr/>
        </p:nvSpPr>
        <p:spPr>
          <a:xfrm>
            <a:off x="685800" y="4206240"/>
            <a:ext cx="8006870" cy="1005840"/>
          </a:xfrm>
          <a:prstGeom prst="rect">
            <a:avLst/>
          </a:prstGeom>
          <a:noFill/>
        </p:spPr>
        <p:txBody>
          <a:bodyPr wrap="square" anchor="t" lIns="0" rIns="0" tIns="0" bIns="0">
            <a:spAutoFit/>
          </a:bodyPr>
          <a:lstStyle/>
          <a:p>
            <a:pPr>
              <a:lnSpc>
                <a:spcPct val="125000"/>
              </a:lnSpc>
            </a:pPr>
            <a:r>
              <a:rPr sz="1500" b="0" i="0">
                <a:solidFill>
                  <a:srgbClr val="8A98AD"/>
                </a:solidFill>
                <a:latin typeface="Arial"/>
              </a:rPr>
              <a:t>CryoFSL made few-shot picking accurate. </a:t>
            </a:r>
            <a:r>
              <a:rPr sz="1500" b="1" i="0">
                <a:solidFill>
                  <a:srgbClr val="EAF1F9"/>
                </a:solidFill>
                <a:latin typeface="Arial"/>
              </a:rPr>
              <a:t>We make picking and junk-cleaning interactive, real-time, and measurable</a:t>
            </a:r>
            <a:r>
              <a:rPr sz="1500" b="0" i="0">
                <a:solidFill>
                  <a:srgbClr val="8A98AD"/>
                </a:solidFill>
                <a:latin typeface="Arial"/>
              </a:rPr>
              <a:t> — with a human-in-the-loop that learns live, on a single GPU.</a:t>
            </a:r>
          </a:p>
        </p:txBody>
      </p:sp>
      <p:sp>
        <p:nvSpPr>
          <p:cNvPr id="7" name="Rounded Rectangle 6"/>
          <p:cNvSpPr/>
          <p:nvPr/>
        </p:nvSpPr>
        <p:spPr>
          <a:xfrm>
            <a:off x="685800" y="5440680"/>
            <a:ext cx="3664915" cy="41148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5440680"/>
            <a:ext cx="3390595" cy="411480"/>
          </a:xfrm>
          <a:prstGeom prst="rect">
            <a:avLst/>
          </a:prstGeom>
          <a:noFill/>
        </p:spPr>
        <p:txBody>
          <a:bodyPr wrap="square" anchor="ctr" lIns="0" rIns="0" tIns="0" bIns="0">
            <a:spAutoFit/>
          </a:bodyPr>
          <a:lstStyle/>
          <a:p>
            <a:r>
              <a:rPr sz="1200" b="0" i="0">
                <a:solidFill>
                  <a:srgbClr val="8A98AD"/>
                </a:solidFill>
                <a:latin typeface="Arial"/>
              </a:rPr>
              <a:t>Computer Science · picking + junk ML + UI</a:t>
            </a:r>
          </a:p>
        </p:txBody>
      </p:sp>
      <p:sp>
        <p:nvSpPr>
          <p:cNvPr id="9" name="Rounded Rectangle 8"/>
          <p:cNvSpPr/>
          <p:nvPr/>
        </p:nvSpPr>
        <p:spPr>
          <a:xfrm>
            <a:off x="4515307" y="5440680"/>
            <a:ext cx="3906316" cy="41148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79899" y="5440680"/>
            <a:ext cx="3631996" cy="411480"/>
          </a:xfrm>
          <a:prstGeom prst="rect">
            <a:avLst/>
          </a:prstGeom>
          <a:noFill/>
        </p:spPr>
        <p:txBody>
          <a:bodyPr wrap="square" anchor="ctr" lIns="0" rIns="0" tIns="0" bIns="0">
            <a:spAutoFit/>
          </a:bodyPr>
          <a:lstStyle/>
          <a:p>
            <a:r>
              <a:rPr sz="1200" b="0" i="0">
                <a:solidFill>
                  <a:srgbClr val="8A98AD"/>
                </a:solidFill>
                <a:latin typeface="Arial"/>
              </a:rPr>
              <a:t>Hardware / Systems · GPU, MRC I/O, streaming</a:t>
            </a:r>
          </a:p>
        </p:txBody>
      </p:sp>
      <p:sp>
        <p:nvSpPr>
          <p:cNvPr id="11" name="Rounded Rectangle 10"/>
          <p:cNvSpPr/>
          <p:nvPr/>
        </p:nvSpPr>
        <p:spPr>
          <a:xfrm>
            <a:off x="8586216" y="5440680"/>
            <a:ext cx="3182111" cy="41148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50808" y="5440680"/>
            <a:ext cx="2907791" cy="411480"/>
          </a:xfrm>
          <a:prstGeom prst="rect">
            <a:avLst/>
          </a:prstGeom>
          <a:noFill/>
        </p:spPr>
        <p:txBody>
          <a:bodyPr wrap="square" anchor="ctr" lIns="0" rIns="0" tIns="0" bIns="0">
            <a:spAutoFit/>
          </a:bodyPr>
          <a:lstStyle/>
          <a:p>
            <a:r>
              <a:rPr sz="1200" b="0" i="0">
                <a:solidFill>
                  <a:srgbClr val="8A98AD"/>
                </a:solidFill>
                <a:latin typeface="Arial"/>
              </a:rPr>
              <a:t>Chemistry · scientific story + HITL</a:t>
            </a:r>
          </a:p>
        </p:txBody>
      </p:sp>
      <p:sp>
        <p:nvSpPr>
          <p:cNvPr id="13" name="TextBox 12"/>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4" name="TextBox 13"/>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1/12</a:t>
            </a:r>
          </a:p>
        </p:txBody>
      </p:sp>
      <p:sp>
        <p:nvSpPr>
          <p:cNvPr id="15" name="Rectangle 14"/>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THE GAP</a:t>
            </a:r>
          </a:p>
        </p:txBody>
      </p:sp>
      <p:sp>
        <p:nvSpPr>
          <p:cNvPr id="4" name="TextBox 3"/>
          <p:cNvSpPr txBox="1"/>
          <p:nvPr/>
        </p:nvSpPr>
        <p:spPr>
          <a:xfrm>
            <a:off x="685800" y="960120"/>
            <a:ext cx="10820095" cy="1463040"/>
          </a:xfrm>
          <a:prstGeom prst="rect">
            <a:avLst/>
          </a:prstGeom>
          <a:noFill/>
        </p:spPr>
        <p:txBody>
          <a:bodyPr wrap="square" anchor="t" lIns="0" rIns="0" tIns="0" bIns="0">
            <a:spAutoFit/>
          </a:bodyPr>
          <a:lstStyle/>
          <a:p>
            <a:r>
              <a:rPr sz="2600" b="1" i="0">
                <a:solidFill>
                  <a:srgbClr val="EAF1F9"/>
                </a:solidFill>
                <a:latin typeface="Arial"/>
              </a:rPr>
              <a:t>Auto-pickers over-pick junk. Cleaning it is manual, post-hoc, and slow.</a:t>
            </a:r>
          </a:p>
        </p:txBody>
      </p:sp>
      <p:sp>
        <p:nvSpPr>
          <p:cNvPr id="5" name="TextBox 4"/>
          <p:cNvSpPr txBox="1"/>
          <p:nvPr/>
        </p:nvSpPr>
        <p:spPr>
          <a:xfrm>
            <a:off x="685800" y="2286000"/>
            <a:ext cx="5852160" cy="3108960"/>
          </a:xfrm>
          <a:prstGeom prst="rect">
            <a:avLst/>
          </a:prstGeom>
          <a:noFill/>
        </p:spPr>
        <p:txBody>
          <a:bodyPr wrap="square" anchor="t" lIns="0" rIns="0" tIns="0" bIns="0">
            <a:spAutoFit/>
          </a:bodyPr>
          <a:lstStyle/>
          <a:p>
            <a:pPr>
              <a:lnSpc>
                <a:spcPct val="113000"/>
              </a:lnSpc>
              <a:spcAft>
                <a:spcPts val="1500"/>
              </a:spcAft>
            </a:pPr>
            <a:r>
              <a:rPr sz="1200" b="1" i="0">
                <a:solidFill>
                  <a:srgbClr val="E7635B"/>
                </a:solidFill>
                <a:latin typeface="Arial"/>
              </a:rPr>
              <a:t>▪  </a:t>
            </a:r>
            <a:r>
              <a:rPr sz="1550" b="0" i="0">
                <a:solidFill>
                  <a:srgbClr val="EAF1F9"/>
                </a:solidFill>
                <a:latin typeface="Arial"/>
              </a:rPr>
              <a:t>Topaz, crYOLO, CryoSegNet find particles well — but ship </a:t>
            </a:r>
            <a:r>
              <a:rPr sz="1550" b="0" i="0">
                <a:solidFill>
                  <a:srgbClr val="8A98AD"/>
                </a:solidFill>
                <a:latin typeface="Arial"/>
              </a:rPr>
              <a:t>no junk-triage layer</a:t>
            </a:r>
            <a:r>
              <a:rPr sz="1550" b="0" i="0">
                <a:solidFill>
                  <a:srgbClr val="EAF1F9"/>
                </a:solidFill>
                <a:latin typeface="Arial"/>
              </a:rPr>
              <a:t> for ice, carbon edges, and aggregates.</a:t>
            </a:r>
          </a:p>
          <a:p>
            <a:pPr>
              <a:lnSpc>
                <a:spcPct val="113000"/>
              </a:lnSpc>
              <a:spcAft>
                <a:spcPts val="1500"/>
              </a:spcAft>
            </a:pPr>
            <a:r>
              <a:rPr sz="1200" b="1" i="0">
                <a:solidFill>
                  <a:srgbClr val="E7635B"/>
                </a:solidFill>
                <a:latin typeface="Arial"/>
              </a:rPr>
              <a:t>▪  </a:t>
            </a:r>
            <a:r>
              <a:rPr sz="1550" b="0" i="0">
                <a:solidFill>
                  <a:srgbClr val="EAF1F9"/>
                </a:solidFill>
                <a:latin typeface="Arial"/>
              </a:rPr>
              <a:t>Scientists catch junk </a:t>
            </a:r>
            <a:r>
              <a:rPr sz="1550" b="0" i="0">
                <a:solidFill>
                  <a:srgbClr val="8A98AD"/>
                </a:solidFill>
                <a:latin typeface="Arial"/>
              </a:rPr>
              <a:t>by eye, after the run</a:t>
            </a:r>
            <a:r>
              <a:rPr sz="1550" b="0" i="0">
                <a:solidFill>
                  <a:srgbClr val="EAF1F9"/>
                </a:solidFill>
                <a:latin typeface="Arial"/>
              </a:rPr>
              <a:t> — discard, re-tune, re-run. Hours after collection, not during.</a:t>
            </a:r>
          </a:p>
          <a:p>
            <a:pPr>
              <a:lnSpc>
                <a:spcPct val="113000"/>
              </a:lnSpc>
              <a:spcAft>
                <a:spcPts val="1500"/>
              </a:spcAft>
            </a:pPr>
            <a:r>
              <a:rPr sz="1200" b="1" i="0">
                <a:solidFill>
                  <a:srgbClr val="E7635B"/>
                </a:solidFill>
                <a:latin typeface="Arial"/>
              </a:rPr>
              <a:t>▪  </a:t>
            </a:r>
            <a:r>
              <a:rPr sz="1550" b="0" i="0">
                <a:solidFill>
                  <a:srgbClr val="EAF1F9"/>
                </a:solidFill>
                <a:latin typeface="Arial"/>
              </a:rPr>
              <a:t>Real-time platforms (cryoSPARC Live, Warp) are </a:t>
            </a:r>
            <a:r>
              <a:rPr sz="1550" b="0" i="0">
                <a:solidFill>
                  <a:srgbClr val="8A98AD"/>
                </a:solidFill>
                <a:latin typeface="Arial"/>
              </a:rPr>
              <a:t>powerful but closed</a:t>
            </a:r>
            <a:r>
              <a:rPr sz="1550" b="0" i="0">
                <a:solidFill>
                  <a:srgbClr val="EAF1F9"/>
                </a:solidFill>
                <a:latin typeface="Arial"/>
              </a:rPr>
              <a:t>, with simple pickers and no correctable junk model.</a:t>
            </a:r>
          </a:p>
        </p:txBody>
      </p:sp>
      <p:sp>
        <p:nvSpPr>
          <p:cNvPr id="6" name="Rounded Rectangle 5"/>
          <p:cNvSpPr/>
          <p:nvPr/>
        </p:nvSpPr>
        <p:spPr>
          <a:xfrm>
            <a:off x="6903720" y="2468880"/>
            <a:ext cx="4572000" cy="2286000"/>
          </a:xfrm>
          <a:prstGeom prst="roundRect">
            <a:avLst>
              <a:gd name="adj" fmla="val 7000"/>
            </a:avLst>
          </a:prstGeom>
          <a:solidFill>
            <a:srgbClr val="0E1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03720" y="2468880"/>
            <a:ext cx="54864" cy="2286000"/>
          </a:xfrm>
          <a:prstGeom prst="rect">
            <a:avLst/>
          </a:prstGeom>
          <a:solidFill>
            <a:srgbClr val="2AD2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2615184"/>
            <a:ext cx="4114800" cy="2011680"/>
          </a:xfrm>
          <a:prstGeom prst="rect">
            <a:avLst/>
          </a:prstGeom>
          <a:noFill/>
        </p:spPr>
        <p:txBody>
          <a:bodyPr wrap="square" anchor="ctr" lIns="0" rIns="0" tIns="0" bIns="0">
            <a:spAutoFit/>
          </a:bodyPr>
          <a:lstStyle/>
          <a:p>
            <a:pPr>
              <a:lnSpc>
                <a:spcPct val="116000"/>
              </a:lnSpc>
            </a:pPr>
            <a:r>
              <a:rPr sz="1300" b="0" i="0">
                <a:solidFill>
                  <a:srgbClr val="2AD29B"/>
                </a:solidFill>
                <a:latin typeface="Arial"/>
              </a:rPr>
              <a:t>The opening: </a:t>
            </a:r>
            <a:r>
              <a:rPr sz="1300" b="0" i="0">
                <a:solidFill>
                  <a:srgbClr val="8A98AD"/>
                </a:solidFill>
                <a:latin typeface="Arial"/>
              </a:rPr>
              <a:t>no open tool ships a dedicated, correctable junk-triage classifier with a sub-second human-in-the-loop refit. That product — not a new picking model — is our contribution.</a:t>
            </a:r>
          </a:p>
        </p:txBody>
      </p:sp>
      <p:sp>
        <p:nvSpPr>
          <p:cNvPr id="9" name="TextBox 8"/>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0" name="TextBox 9"/>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2/12</a:t>
            </a:r>
          </a:p>
        </p:txBody>
      </p:sp>
      <p:sp>
        <p:nvSpPr>
          <p:cNvPr id="11" name="Rectangle 10"/>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WHAT CRYOCLEAR DOES</a:t>
            </a:r>
          </a:p>
        </p:txBody>
      </p:sp>
      <p:sp>
        <p:nvSpPr>
          <p:cNvPr id="4" name="TextBox 3"/>
          <p:cNvSpPr txBox="1"/>
          <p:nvPr/>
        </p:nvSpPr>
        <p:spPr>
          <a:xfrm>
            <a:off x="685800" y="960120"/>
            <a:ext cx="10820095" cy="1463040"/>
          </a:xfrm>
          <a:prstGeom prst="rect">
            <a:avLst/>
          </a:prstGeom>
          <a:noFill/>
        </p:spPr>
        <p:txBody>
          <a:bodyPr wrap="square" anchor="t" lIns="0" rIns="0" tIns="0" bIns="0">
            <a:spAutoFit/>
          </a:bodyPr>
          <a:lstStyle/>
          <a:p>
            <a:r>
              <a:rPr sz="2400" b="1" i="0">
                <a:solidFill>
                  <a:srgbClr val="EAF1F9"/>
                </a:solidFill>
                <a:latin typeface="Arial"/>
              </a:rPr>
              <a:t>One modular pipeline — swap any picker, triage the junk, learn from the scientist.</a:t>
            </a:r>
          </a:p>
        </p:txBody>
      </p:sp>
      <p:sp>
        <p:nvSpPr>
          <p:cNvPr id="5" name="Rounded Rectangle 4"/>
          <p:cNvSpPr/>
          <p:nvPr/>
        </p:nvSpPr>
        <p:spPr>
          <a:xfrm>
            <a:off x="685800" y="2468880"/>
            <a:ext cx="1420324"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633472"/>
            <a:ext cx="1200868" cy="1097280"/>
          </a:xfrm>
          <a:prstGeom prst="rect">
            <a:avLst/>
          </a:prstGeom>
          <a:noFill/>
        </p:spPr>
        <p:txBody>
          <a:bodyPr wrap="square" anchor="t" lIns="0" rIns="0" tIns="0" bIns="0">
            <a:spAutoFit/>
          </a:bodyPr>
          <a:lstStyle/>
          <a:p>
            <a:r>
              <a:rPr sz="1300" b="1" i="0">
                <a:solidFill>
                  <a:srgbClr val="EAF1F9"/>
                </a:solidFill>
                <a:latin typeface="Arial"/>
              </a:rPr>
              <a:t>MRC stream</a:t>
            </a:r>
          </a:p>
          <a:p>
            <a:pPr>
              <a:lnSpc>
                <a:spcPct val="105000"/>
              </a:lnSpc>
              <a:spcBef>
                <a:spcPts val="400"/>
              </a:spcBef>
            </a:pPr>
            <a:r>
              <a:rPr sz="1050" b="0" i="0">
                <a:solidFill>
                  <a:srgbClr val="8A98AD"/>
                </a:solidFill>
                <a:latin typeface="Arial"/>
              </a:rPr>
              <a:t>micrographs as they arrive</a:t>
            </a:r>
          </a:p>
        </p:txBody>
      </p:sp>
      <p:sp>
        <p:nvSpPr>
          <p:cNvPr id="7" name="Rounded Rectangle 6"/>
          <p:cNvSpPr/>
          <p:nvPr/>
        </p:nvSpPr>
        <p:spPr>
          <a:xfrm>
            <a:off x="2252428" y="2468880"/>
            <a:ext cx="1420324"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62156" y="2633472"/>
            <a:ext cx="1200868" cy="1097280"/>
          </a:xfrm>
          <a:prstGeom prst="rect">
            <a:avLst/>
          </a:prstGeom>
          <a:noFill/>
        </p:spPr>
        <p:txBody>
          <a:bodyPr wrap="square" anchor="t" lIns="0" rIns="0" tIns="0" bIns="0">
            <a:spAutoFit/>
          </a:bodyPr>
          <a:lstStyle/>
          <a:p>
            <a:r>
              <a:rPr sz="1300" b="1" i="0">
                <a:solidFill>
                  <a:srgbClr val="EAF1F9"/>
                </a:solidFill>
                <a:latin typeface="Arial"/>
              </a:rPr>
              <a:t>Picker</a:t>
            </a:r>
          </a:p>
          <a:p>
            <a:pPr>
              <a:lnSpc>
                <a:spcPct val="105000"/>
              </a:lnSpc>
              <a:spcBef>
                <a:spcPts val="400"/>
              </a:spcBef>
            </a:pPr>
            <a:r>
              <a:rPr sz="1050" b="0" i="0">
                <a:solidFill>
                  <a:srgbClr val="8A98AD"/>
                </a:solidFill>
                <a:latin typeface="Arial"/>
              </a:rPr>
              <a:t>blob · Topaz · CryoSegNet</a:t>
            </a:r>
          </a:p>
        </p:txBody>
      </p:sp>
      <p:sp>
        <p:nvSpPr>
          <p:cNvPr id="9" name="Rounded Rectangle 8"/>
          <p:cNvSpPr/>
          <p:nvPr/>
        </p:nvSpPr>
        <p:spPr>
          <a:xfrm>
            <a:off x="3819056" y="2468880"/>
            <a:ext cx="1420324" cy="1371600"/>
          </a:xfrm>
          <a:prstGeom prst="roundRect">
            <a:avLst>
              <a:gd name="adj" fmla="val 7000"/>
            </a:avLst>
          </a:prstGeom>
          <a:solidFill>
            <a:srgbClr val="10241D"/>
          </a:solidFill>
          <a:ln w="12700">
            <a:solidFill>
              <a:srgbClr val="2AD2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28784" y="2633472"/>
            <a:ext cx="1200868" cy="1097280"/>
          </a:xfrm>
          <a:prstGeom prst="rect">
            <a:avLst/>
          </a:prstGeom>
          <a:noFill/>
        </p:spPr>
        <p:txBody>
          <a:bodyPr wrap="square" anchor="t" lIns="0" rIns="0" tIns="0" bIns="0">
            <a:spAutoFit/>
          </a:bodyPr>
          <a:lstStyle/>
          <a:p>
            <a:r>
              <a:rPr sz="1300" b="1" i="0">
                <a:solidFill>
                  <a:srgbClr val="EAF1F9"/>
                </a:solidFill>
                <a:latin typeface="Arial"/>
              </a:rPr>
              <a:t>Junk classifier</a:t>
            </a:r>
          </a:p>
          <a:p>
            <a:pPr>
              <a:lnSpc>
                <a:spcPct val="105000"/>
              </a:lnSpc>
              <a:spcBef>
                <a:spcPts val="400"/>
              </a:spcBef>
            </a:pPr>
            <a:r>
              <a:rPr sz="1050" b="0" i="0">
                <a:solidFill>
                  <a:srgbClr val="8A98AD"/>
                </a:solidFill>
                <a:latin typeface="Arial"/>
              </a:rPr>
              <a:t>keep / ice / carbon / aggregate</a:t>
            </a:r>
          </a:p>
        </p:txBody>
      </p:sp>
      <p:sp>
        <p:nvSpPr>
          <p:cNvPr id="11" name="Rounded Rectangle 10"/>
          <p:cNvSpPr/>
          <p:nvPr/>
        </p:nvSpPr>
        <p:spPr>
          <a:xfrm>
            <a:off x="5385685" y="2468880"/>
            <a:ext cx="1420324" cy="1371600"/>
          </a:xfrm>
          <a:prstGeom prst="roundRect">
            <a:avLst>
              <a:gd name="adj" fmla="val 7000"/>
            </a:avLst>
          </a:prstGeom>
          <a:solidFill>
            <a:srgbClr val="10241D"/>
          </a:solidFill>
          <a:ln w="12700">
            <a:solidFill>
              <a:srgbClr val="2AD2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95413" y="2633472"/>
            <a:ext cx="1200868" cy="1097280"/>
          </a:xfrm>
          <a:prstGeom prst="rect">
            <a:avLst/>
          </a:prstGeom>
          <a:noFill/>
        </p:spPr>
        <p:txBody>
          <a:bodyPr wrap="square" anchor="t" lIns="0" rIns="0" tIns="0" bIns="0">
            <a:spAutoFit/>
          </a:bodyPr>
          <a:lstStyle/>
          <a:p>
            <a:r>
              <a:rPr sz="1300" b="1" i="0">
                <a:solidFill>
                  <a:srgbClr val="EAF1F9"/>
                </a:solidFill>
                <a:latin typeface="Arial"/>
              </a:rPr>
              <a:t>Your correction</a:t>
            </a:r>
          </a:p>
          <a:p>
            <a:pPr>
              <a:lnSpc>
                <a:spcPct val="105000"/>
              </a:lnSpc>
              <a:spcBef>
                <a:spcPts val="400"/>
              </a:spcBef>
            </a:pPr>
            <a:r>
              <a:rPr sz="1050" b="0" i="0">
                <a:solidFill>
                  <a:srgbClr val="8A98AD"/>
                </a:solidFill>
                <a:latin typeface="Arial"/>
              </a:rPr>
              <a:t>box-brush keep/dump · undo</a:t>
            </a:r>
          </a:p>
        </p:txBody>
      </p:sp>
      <p:sp>
        <p:nvSpPr>
          <p:cNvPr id="13" name="Rounded Rectangle 12"/>
          <p:cNvSpPr/>
          <p:nvPr/>
        </p:nvSpPr>
        <p:spPr>
          <a:xfrm>
            <a:off x="6952313" y="2468880"/>
            <a:ext cx="1420324" cy="1371600"/>
          </a:xfrm>
          <a:prstGeom prst="roundRect">
            <a:avLst>
              <a:gd name="adj" fmla="val 7000"/>
            </a:avLst>
          </a:prstGeom>
          <a:solidFill>
            <a:srgbClr val="10241D"/>
          </a:solidFill>
          <a:ln w="12700">
            <a:solidFill>
              <a:srgbClr val="2AD2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62041" y="2633472"/>
            <a:ext cx="1200868" cy="1097280"/>
          </a:xfrm>
          <a:prstGeom prst="rect">
            <a:avLst/>
          </a:prstGeom>
          <a:noFill/>
        </p:spPr>
        <p:txBody>
          <a:bodyPr wrap="square" anchor="t" lIns="0" rIns="0" tIns="0" bIns="0">
            <a:spAutoFit/>
          </a:bodyPr>
          <a:lstStyle/>
          <a:p>
            <a:r>
              <a:rPr sz="1300" b="1" i="0">
                <a:solidFill>
                  <a:srgbClr val="EAF1F9"/>
                </a:solidFill>
                <a:latin typeface="Arial"/>
              </a:rPr>
              <a:t>Learns live</a:t>
            </a:r>
          </a:p>
          <a:p>
            <a:pPr>
              <a:lnSpc>
                <a:spcPct val="105000"/>
              </a:lnSpc>
              <a:spcBef>
                <a:spcPts val="400"/>
              </a:spcBef>
            </a:pPr>
            <a:r>
              <a:rPr sz="1050" b="0" i="0">
                <a:solidFill>
                  <a:srgbClr val="8A98AD"/>
                </a:solidFill>
                <a:latin typeface="Arial"/>
              </a:rPr>
              <a:t>refits in &lt;1s</a:t>
            </a:r>
          </a:p>
        </p:txBody>
      </p:sp>
      <p:sp>
        <p:nvSpPr>
          <p:cNvPr id="15" name="Rounded Rectangle 14"/>
          <p:cNvSpPr/>
          <p:nvPr/>
        </p:nvSpPr>
        <p:spPr>
          <a:xfrm>
            <a:off x="8518942" y="2468880"/>
            <a:ext cx="1420324"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8670" y="2633472"/>
            <a:ext cx="1200868" cy="1097280"/>
          </a:xfrm>
          <a:prstGeom prst="rect">
            <a:avLst/>
          </a:prstGeom>
          <a:noFill/>
        </p:spPr>
        <p:txBody>
          <a:bodyPr wrap="square" anchor="t" lIns="0" rIns="0" tIns="0" bIns="0">
            <a:spAutoFit/>
          </a:bodyPr>
          <a:lstStyle/>
          <a:p>
            <a:r>
              <a:rPr sz="1300" b="1" i="0">
                <a:solidFill>
                  <a:srgbClr val="EAF1F9"/>
                </a:solidFill>
                <a:latin typeface="Arial"/>
              </a:rPr>
              <a:t>Clean export</a:t>
            </a:r>
          </a:p>
          <a:p>
            <a:pPr>
              <a:lnSpc>
                <a:spcPct val="105000"/>
              </a:lnSpc>
              <a:spcBef>
                <a:spcPts val="400"/>
              </a:spcBef>
            </a:pPr>
            <a:r>
              <a:rPr sz="1050" b="0" i="0">
                <a:solidFill>
                  <a:srgbClr val="8A98AD"/>
                </a:solidFill>
                <a:latin typeface="Arial"/>
              </a:rPr>
              <a:t>.star/.box → RELION/cryoSPARC</a:t>
            </a:r>
          </a:p>
        </p:txBody>
      </p:sp>
      <p:sp>
        <p:nvSpPr>
          <p:cNvPr id="17" name="Rounded Rectangle 16"/>
          <p:cNvSpPr/>
          <p:nvPr/>
        </p:nvSpPr>
        <p:spPr>
          <a:xfrm>
            <a:off x="10085570" y="2468880"/>
            <a:ext cx="1420324"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95298" y="2633472"/>
            <a:ext cx="1200868" cy="1097280"/>
          </a:xfrm>
          <a:prstGeom prst="rect">
            <a:avLst/>
          </a:prstGeom>
          <a:noFill/>
        </p:spPr>
        <p:txBody>
          <a:bodyPr wrap="square" anchor="t" lIns="0" rIns="0" tIns="0" bIns="0">
            <a:spAutoFit/>
          </a:bodyPr>
          <a:lstStyle/>
          <a:p>
            <a:r>
              <a:rPr sz="1300" b="1" i="0">
                <a:solidFill>
                  <a:srgbClr val="EAF1F9"/>
                </a:solidFill>
                <a:latin typeface="Arial"/>
              </a:rPr>
              <a:t>2D classes</a:t>
            </a:r>
          </a:p>
          <a:p>
            <a:pPr>
              <a:lnSpc>
                <a:spcPct val="105000"/>
              </a:lnSpc>
              <a:spcBef>
                <a:spcPts val="400"/>
              </a:spcBef>
            </a:pPr>
            <a:r>
              <a:rPr sz="1050" b="0" i="0">
                <a:solidFill>
                  <a:srgbClr val="8A98AD"/>
                </a:solidFill>
                <a:latin typeface="Arial"/>
              </a:rPr>
              <a:t>proof the picks are real</a:t>
            </a:r>
          </a:p>
        </p:txBody>
      </p:sp>
      <p:sp>
        <p:nvSpPr>
          <p:cNvPr id="19" name="TextBox 18"/>
          <p:cNvSpPr txBox="1"/>
          <p:nvPr/>
        </p:nvSpPr>
        <p:spPr>
          <a:xfrm>
            <a:off x="685800" y="4160520"/>
            <a:ext cx="10820095" cy="1188720"/>
          </a:xfrm>
          <a:prstGeom prst="rect">
            <a:avLst/>
          </a:prstGeom>
          <a:noFill/>
        </p:spPr>
        <p:txBody>
          <a:bodyPr wrap="square" anchor="t" lIns="0" rIns="0" tIns="0" bIns="0">
            <a:spAutoFit/>
          </a:bodyPr>
          <a:lstStyle/>
          <a:p>
            <a:pPr>
              <a:lnSpc>
                <a:spcPct val="120000"/>
              </a:lnSpc>
            </a:pPr>
            <a:r>
              <a:rPr sz="1550" b="0" i="0">
                <a:solidFill>
                  <a:srgbClr val="8A98AD"/>
                </a:solidFill>
                <a:latin typeface="Arial"/>
              </a:rPr>
              <a:t>Green = keep, red = junk, overlaid live. Every accept/reject updates the classifier in-session, and a live scoreboard shows how clean the stack is. The default picking + triage path is CPU-light; the GPU is used only for the optional deep pickers and the CNN.</a:t>
            </a:r>
          </a:p>
        </p:txBody>
      </p:sp>
      <p:sp>
        <p:nvSpPr>
          <p:cNvPr id="20" name="TextBox 19"/>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21" name="TextBox 20"/>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3/12</a:t>
            </a:r>
          </a:p>
        </p:txBody>
      </p:sp>
      <p:sp>
        <p:nvSpPr>
          <p:cNvPr id="22" name="Rectangle 21"/>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SYSTEM ARCHITECTURE</a:t>
            </a:r>
          </a:p>
        </p:txBody>
      </p:sp>
      <p:sp>
        <p:nvSpPr>
          <p:cNvPr id="4" name="TextBox 3"/>
          <p:cNvSpPr txBox="1"/>
          <p:nvPr/>
        </p:nvSpPr>
        <p:spPr>
          <a:xfrm>
            <a:off x="685800" y="960120"/>
            <a:ext cx="10820095" cy="1463040"/>
          </a:xfrm>
          <a:prstGeom prst="rect">
            <a:avLst/>
          </a:prstGeom>
          <a:noFill/>
        </p:spPr>
        <p:txBody>
          <a:bodyPr wrap="square" anchor="t" lIns="0" rIns="0" tIns="0" bIns="0">
            <a:spAutoFit/>
          </a:bodyPr>
          <a:lstStyle/>
          <a:p>
            <a:r>
              <a:rPr sz="2100" b="1" i="0">
                <a:solidFill>
                  <a:srgbClr val="EAF1F9"/>
                </a:solidFill>
                <a:latin typeface="Arial"/>
              </a:rPr>
              <a:t>Modular by design — a swappable picker, a novel junk classifier, a live correction loop.</a:t>
            </a:r>
          </a:p>
        </p:txBody>
      </p:sp>
      <p:sp>
        <p:nvSpPr>
          <p:cNvPr id="5" name="Rectangle 4"/>
          <p:cNvSpPr/>
          <p:nvPr/>
        </p:nvSpPr>
        <p:spPr>
          <a:xfrm>
            <a:off x="2077059" y="1764792"/>
            <a:ext cx="8037575" cy="4379976"/>
          </a:xfrm>
          <a:prstGeom prst="rect">
            <a:avLst/>
          </a:prstGeom>
          <a:solidFill>
            <a:srgbClr val="00000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png"/>
          <p:cNvPicPr>
            <a:picLocks noChangeAspect="1"/>
          </p:cNvPicPr>
          <p:nvPr/>
        </p:nvPicPr>
        <p:blipFill>
          <a:blip r:embed="rId2"/>
          <a:stretch>
            <a:fillRect/>
          </a:stretch>
        </p:blipFill>
        <p:spPr>
          <a:xfrm>
            <a:off x="2095347" y="1783080"/>
            <a:ext cx="8001000" cy="4343400"/>
          </a:xfrm>
          <a:prstGeom prst="rect">
            <a:avLst/>
          </a:prstGeom>
        </p:spPr>
      </p:pic>
      <p:sp>
        <p:nvSpPr>
          <p:cNvPr id="7" name="TextBox 6"/>
          <p:cNvSpPr txBox="1"/>
          <p:nvPr/>
        </p:nvSpPr>
        <p:spPr>
          <a:xfrm>
            <a:off x="685800" y="6199632"/>
            <a:ext cx="10820095" cy="457200"/>
          </a:xfrm>
          <a:prstGeom prst="rect">
            <a:avLst/>
          </a:prstGeom>
          <a:noFill/>
        </p:spPr>
        <p:txBody>
          <a:bodyPr wrap="square" anchor="t" lIns="0" rIns="0" tIns="0" bIns="0">
            <a:spAutoFit/>
          </a:bodyPr>
          <a:lstStyle/>
          <a:p>
            <a:r>
              <a:rPr sz="1150" b="0" i="0">
                <a:solidFill>
                  <a:srgbClr val="5F6E84"/>
                </a:solidFill>
                <a:latin typeface="Arial"/>
              </a:rPr>
              <a:t>Forward data flow in blue · the human-in-the-loop correction loop in green · measurable outputs in gold.</a:t>
            </a:r>
          </a:p>
        </p:txBody>
      </p:sp>
      <p:sp>
        <p:nvSpPr>
          <p:cNvPr id="8" name="TextBox 7"/>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9" name="TextBox 8"/>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4/12</a:t>
            </a:r>
          </a:p>
        </p:txBody>
      </p:sp>
      <p:sp>
        <p:nvSpPr>
          <p:cNvPr id="10" name="Rectangle 9"/>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LIVE PICKING · M1</a:t>
            </a:r>
          </a:p>
        </p:txBody>
      </p:sp>
      <p:sp>
        <p:nvSpPr>
          <p:cNvPr id="4" name="Rectangle 3"/>
          <p:cNvSpPr/>
          <p:nvPr/>
        </p:nvSpPr>
        <p:spPr>
          <a:xfrm>
            <a:off x="667512" y="987552"/>
            <a:ext cx="6345936" cy="4943316"/>
          </a:xfrm>
          <a:prstGeom prst="rect">
            <a:avLst/>
          </a:prstGeom>
          <a:solidFill>
            <a:srgbClr val="00000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ck.jpg"/>
          <p:cNvPicPr>
            <a:picLocks noChangeAspect="1"/>
          </p:cNvPicPr>
          <p:nvPr/>
        </p:nvPicPr>
        <p:blipFill>
          <a:blip r:embed="rId2"/>
          <a:stretch>
            <a:fillRect/>
          </a:stretch>
        </p:blipFill>
        <p:spPr>
          <a:xfrm>
            <a:off x="685800" y="1005840"/>
            <a:ext cx="6309360" cy="4906740"/>
          </a:xfrm>
          <a:prstGeom prst="rect">
            <a:avLst/>
          </a:prstGeom>
        </p:spPr>
      </p:pic>
      <p:sp>
        <p:nvSpPr>
          <p:cNvPr id="6" name="TextBox 5"/>
          <p:cNvSpPr txBox="1"/>
          <p:nvPr/>
        </p:nvSpPr>
        <p:spPr>
          <a:xfrm>
            <a:off x="685800" y="5989320"/>
            <a:ext cx="6309360" cy="457200"/>
          </a:xfrm>
          <a:prstGeom prst="rect">
            <a:avLst/>
          </a:prstGeom>
          <a:noFill/>
        </p:spPr>
        <p:txBody>
          <a:bodyPr wrap="square" anchor="t" lIns="0" rIns="0" tIns="0" bIns="0">
            <a:spAutoFit/>
          </a:bodyPr>
          <a:lstStyle/>
          <a:p>
            <a:r>
              <a:rPr sz="1150" b="0" i="0">
                <a:solidFill>
                  <a:srgbClr val="5F6E84"/>
                </a:solidFill>
                <a:latin typeface="Arial"/>
              </a:rPr>
              <a:t>EMPIAR-10017 β-galactosidase · green = kept particle, red = flagged junk.</a:t>
            </a:r>
          </a:p>
        </p:txBody>
      </p:sp>
      <p:sp>
        <p:nvSpPr>
          <p:cNvPr id="7" name="TextBox 6"/>
          <p:cNvSpPr txBox="1"/>
          <p:nvPr/>
        </p:nvSpPr>
        <p:spPr>
          <a:xfrm>
            <a:off x="7406640" y="1234440"/>
            <a:ext cx="4114800" cy="1554480"/>
          </a:xfrm>
          <a:prstGeom prst="rect">
            <a:avLst/>
          </a:prstGeom>
          <a:noFill/>
        </p:spPr>
        <p:txBody>
          <a:bodyPr wrap="square" anchor="t" lIns="0" rIns="0" tIns="0" bIns="0">
            <a:spAutoFit/>
          </a:bodyPr>
          <a:lstStyle/>
          <a:p>
            <a:r>
              <a:rPr sz="2500" b="1" i="0">
                <a:solidFill>
                  <a:srgbClr val="EAF1F9"/>
                </a:solidFill>
                <a:latin typeface="Arial"/>
              </a:rPr>
              <a:t>It picks particles — and tells you which ones to trust.</a:t>
            </a:r>
          </a:p>
        </p:txBody>
      </p:sp>
      <p:sp>
        <p:nvSpPr>
          <p:cNvPr id="8" name="TextBox 7"/>
          <p:cNvSpPr txBox="1"/>
          <p:nvPr/>
        </p:nvSpPr>
        <p:spPr>
          <a:xfrm>
            <a:off x="7406640" y="2971800"/>
            <a:ext cx="4114800" cy="2926080"/>
          </a:xfrm>
          <a:prstGeom prst="rect">
            <a:avLst/>
          </a:prstGeom>
          <a:noFill/>
        </p:spPr>
        <p:txBody>
          <a:bodyPr wrap="square" anchor="t" lIns="0" rIns="0" tIns="0" bIns="0">
            <a:spAutoFit/>
          </a:bodyPr>
          <a:lstStyle/>
          <a:p>
            <a:pPr>
              <a:lnSpc>
                <a:spcPct val="113000"/>
              </a:lnSpc>
              <a:spcAft>
                <a:spcPts val="1100"/>
              </a:spcAft>
            </a:pPr>
            <a:r>
              <a:rPr sz="1200" b="1" i="0">
                <a:solidFill>
                  <a:srgbClr val="2AD29B"/>
                </a:solidFill>
                <a:latin typeface="Arial"/>
              </a:rPr>
              <a:t>▪  </a:t>
            </a:r>
            <a:r>
              <a:rPr sz="1400" b="0" i="0">
                <a:solidFill>
                  <a:srgbClr val="EAF1F9"/>
                </a:solidFill>
                <a:latin typeface="Arial"/>
              </a:rPr>
              <a:t>Locally-normalised band-pass detector finds candidates across the whole field.</a:t>
            </a:r>
          </a:p>
          <a:p>
            <a:pPr>
              <a:lnSpc>
                <a:spcPct val="113000"/>
              </a:lnSpc>
              <a:spcAft>
                <a:spcPts val="1100"/>
              </a:spcAft>
            </a:pPr>
            <a:r>
              <a:rPr sz="1200" b="1" i="0">
                <a:solidFill>
                  <a:srgbClr val="2AD29B"/>
                </a:solidFill>
                <a:latin typeface="Arial"/>
              </a:rPr>
              <a:t>▪  </a:t>
            </a:r>
            <a:r>
              <a:rPr sz="1400" b="0" i="0">
                <a:solidFill>
                  <a:srgbClr val="EAF1F9"/>
                </a:solidFill>
                <a:latin typeface="Arial"/>
              </a:rPr>
              <a:t>Each candidate gets 23 intensity-normalised features (radial profile, edge coherence, sharpness).</a:t>
            </a:r>
          </a:p>
          <a:p>
            <a:pPr>
              <a:lnSpc>
                <a:spcPct val="113000"/>
              </a:lnSpc>
              <a:spcAft>
                <a:spcPts val="1100"/>
              </a:spcAft>
            </a:pPr>
            <a:r>
              <a:rPr sz="1200" b="1" i="0">
                <a:solidFill>
                  <a:srgbClr val="2AD29B"/>
                </a:solidFill>
                <a:latin typeface="Arial"/>
              </a:rPr>
              <a:t>▪  </a:t>
            </a:r>
            <a:r>
              <a:rPr sz="1400" b="0" i="0">
                <a:solidFill>
                  <a:srgbClr val="EAF1F9"/>
                </a:solidFill>
                <a:latin typeface="Arial"/>
              </a:rPr>
              <a:t>The classifier paints </a:t>
            </a:r>
            <a:r>
              <a:rPr sz="1400" b="0" i="0">
                <a:solidFill>
                  <a:srgbClr val="8A98AD"/>
                </a:solidFill>
                <a:latin typeface="Arial"/>
              </a:rPr>
              <a:t>keep vs junk</a:t>
            </a:r>
            <a:r>
              <a:rPr sz="1400" b="0" i="0">
                <a:solidFill>
                  <a:srgbClr val="EAF1F9"/>
                </a:solidFill>
                <a:latin typeface="Arial"/>
              </a:rPr>
              <a:t> in real time.</a:t>
            </a:r>
          </a:p>
          <a:p>
            <a:pPr>
              <a:lnSpc>
                <a:spcPct val="113000"/>
              </a:lnSpc>
              <a:spcAft>
                <a:spcPts val="1100"/>
              </a:spcAft>
            </a:pPr>
            <a:r>
              <a:rPr sz="1200" b="1" i="0">
                <a:solidFill>
                  <a:srgbClr val="5F6E84"/>
                </a:solidFill>
                <a:latin typeface="Arial"/>
              </a:rPr>
              <a:t>▪  </a:t>
            </a:r>
            <a:r>
              <a:rPr sz="1400" b="0" i="0">
                <a:solidFill>
                  <a:srgbClr val="8A98AD"/>
                </a:solidFill>
                <a:latin typeface="Arial"/>
              </a:rPr>
              <a:t>Live default is the CPU blob/DoG picker; Topaz &amp; CryoSegNet picks are precomputed and cached as .star.</a:t>
            </a:r>
          </a:p>
        </p:txBody>
      </p:sp>
      <p:sp>
        <p:nvSpPr>
          <p:cNvPr id="9" name="TextBox 8"/>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0" name="TextBox 9"/>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5/12</a:t>
            </a:r>
          </a:p>
        </p:txBody>
      </p:sp>
      <p:sp>
        <p:nvSpPr>
          <p:cNvPr id="11" name="Rectangle 10"/>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MEASURED · LABELLED IN-SAMPLE VS HELD-OUT</a:t>
            </a:r>
          </a:p>
        </p:txBody>
      </p:sp>
      <p:sp>
        <p:nvSpPr>
          <p:cNvPr id="4" name="TextBox 3"/>
          <p:cNvSpPr txBox="1"/>
          <p:nvPr/>
        </p:nvSpPr>
        <p:spPr>
          <a:xfrm>
            <a:off x="685800" y="960120"/>
            <a:ext cx="10820095" cy="1463040"/>
          </a:xfrm>
          <a:prstGeom prst="rect">
            <a:avLst/>
          </a:prstGeom>
          <a:noFill/>
        </p:spPr>
        <p:txBody>
          <a:bodyPr wrap="square" anchor="t" lIns="0" rIns="0" tIns="0" bIns="0">
            <a:spAutoFit/>
          </a:bodyPr>
          <a:lstStyle/>
          <a:p>
            <a:r>
              <a:rPr sz="2600" b="1" i="0">
                <a:solidFill>
                  <a:srgbClr val="EAF1F9"/>
                </a:solidFill>
                <a:latin typeface="Arial"/>
              </a:rPr>
              <a:t>Junk triage beats raw picks where it counts: a cleaner stack.</a:t>
            </a:r>
          </a:p>
        </p:txBody>
      </p:sp>
      <p:sp>
        <p:nvSpPr>
          <p:cNvPr id="5" name="Rounded Rectangle 4"/>
          <p:cNvSpPr/>
          <p:nvPr/>
        </p:nvSpPr>
        <p:spPr>
          <a:xfrm>
            <a:off x="685800" y="2331720"/>
            <a:ext cx="3611880"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2514600"/>
            <a:ext cx="3191256" cy="1042416"/>
          </a:xfrm>
          <a:prstGeom prst="rect">
            <a:avLst/>
          </a:prstGeom>
          <a:noFill/>
        </p:spPr>
        <p:txBody>
          <a:bodyPr wrap="square" anchor="t" lIns="0" rIns="0" tIns="0" bIns="0">
            <a:spAutoFit/>
          </a:bodyPr>
          <a:lstStyle/>
          <a:p>
            <a:r>
              <a:rPr sz="2500" b="1" i="0">
                <a:solidFill>
                  <a:srgbClr val="2AD29B"/>
                </a:solidFill>
                <a:latin typeface="Arial"/>
              </a:rPr>
              <a:t>+0.09</a:t>
            </a:r>
          </a:p>
          <a:p>
            <a:pPr>
              <a:spcBef>
                <a:spcPts val="200"/>
              </a:spcBef>
            </a:pPr>
            <a:r>
              <a:rPr sz="1250" b="0" i="0">
                <a:solidFill>
                  <a:srgbClr val="8A98AD"/>
                </a:solidFill>
                <a:latin typeface="Arial"/>
              </a:rPr>
              <a:t>kept-set purity vs raw picks</a:t>
            </a:r>
          </a:p>
          <a:p>
            <a:pPr>
              <a:spcBef>
                <a:spcPts val="500"/>
              </a:spcBef>
            </a:pPr>
            <a:r>
              <a:rPr sz="1050" b="1" i="0">
                <a:solidFill>
                  <a:srgbClr val="4EA1FF"/>
                </a:solidFill>
                <a:latin typeface="Arial"/>
              </a:rPr>
              <a:t>in-sample · 10017 · every micrograph measured</a:t>
            </a:r>
          </a:p>
        </p:txBody>
      </p:sp>
      <p:sp>
        <p:nvSpPr>
          <p:cNvPr id="7" name="Rounded Rectangle 6"/>
          <p:cNvSpPr/>
          <p:nvPr/>
        </p:nvSpPr>
        <p:spPr>
          <a:xfrm>
            <a:off x="4590288" y="2331720"/>
            <a:ext cx="3611880"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8032" y="2514600"/>
            <a:ext cx="3191256" cy="1042416"/>
          </a:xfrm>
          <a:prstGeom prst="rect">
            <a:avLst/>
          </a:prstGeom>
          <a:noFill/>
        </p:spPr>
        <p:txBody>
          <a:bodyPr wrap="square" anchor="t" lIns="0" rIns="0" tIns="0" bIns="0">
            <a:spAutoFit/>
          </a:bodyPr>
          <a:lstStyle/>
          <a:p>
            <a:r>
              <a:rPr sz="2500" b="1" i="0">
                <a:solidFill>
                  <a:srgbClr val="E9B949"/>
                </a:solidFill>
                <a:latin typeface="Arial"/>
              </a:rPr>
              <a:t>0.47 → 0.64</a:t>
            </a:r>
          </a:p>
          <a:p>
            <a:pPr>
              <a:spcBef>
                <a:spcPts val="200"/>
              </a:spcBef>
            </a:pPr>
            <a:r>
              <a:rPr sz="1250" b="0" i="0">
                <a:solidFill>
                  <a:srgbClr val="8A98AD"/>
                </a:solidFill>
                <a:latin typeface="Arial"/>
              </a:rPr>
              <a:t>junk-rejection F1 (LightGBM)</a:t>
            </a:r>
          </a:p>
          <a:p>
            <a:pPr>
              <a:spcBef>
                <a:spcPts val="500"/>
              </a:spcBef>
            </a:pPr>
            <a:r>
              <a:rPr sz="1050" b="1" i="0">
                <a:solidFill>
                  <a:srgbClr val="E9B949"/>
                </a:solidFill>
                <a:latin typeface="Arial"/>
              </a:rPr>
              <a:t>held-out · richer features</a:t>
            </a:r>
          </a:p>
        </p:txBody>
      </p:sp>
      <p:sp>
        <p:nvSpPr>
          <p:cNvPr id="9" name="Rounded Rectangle 8"/>
          <p:cNvSpPr/>
          <p:nvPr/>
        </p:nvSpPr>
        <p:spPr>
          <a:xfrm>
            <a:off x="685800" y="3995928"/>
            <a:ext cx="3611880"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4178808"/>
            <a:ext cx="3191256" cy="1042416"/>
          </a:xfrm>
          <a:prstGeom prst="rect">
            <a:avLst/>
          </a:prstGeom>
          <a:noFill/>
        </p:spPr>
        <p:txBody>
          <a:bodyPr wrap="square" anchor="t" lIns="0" rIns="0" tIns="0" bIns="0">
            <a:spAutoFit/>
          </a:bodyPr>
          <a:lstStyle/>
          <a:p>
            <a:r>
              <a:rPr sz="2500" b="1" i="0">
                <a:solidFill>
                  <a:srgbClr val="4EA1FF"/>
                </a:solidFill>
                <a:latin typeface="Arial"/>
              </a:rPr>
              <a:t>27%</a:t>
            </a:r>
          </a:p>
          <a:p>
            <a:pPr>
              <a:spcBef>
                <a:spcPts val="200"/>
              </a:spcBef>
            </a:pPr>
            <a:r>
              <a:rPr sz="1250" b="0" i="0">
                <a:solidFill>
                  <a:srgbClr val="8A98AD"/>
                </a:solidFill>
                <a:latin typeface="Arial"/>
              </a:rPr>
              <a:t>junk removed, recall ≈ unchanged</a:t>
            </a:r>
          </a:p>
          <a:p>
            <a:pPr>
              <a:spcBef>
                <a:spcPts val="500"/>
              </a:spcBef>
            </a:pPr>
            <a:r>
              <a:rPr sz="1050" b="1" i="0">
                <a:solidFill>
                  <a:srgbClr val="4EA1FF"/>
                </a:solidFill>
                <a:latin typeface="Arial"/>
              </a:rPr>
              <a:t>in-sample · at the demo threshold</a:t>
            </a:r>
          </a:p>
        </p:txBody>
      </p:sp>
      <p:sp>
        <p:nvSpPr>
          <p:cNvPr id="11" name="Rounded Rectangle 10"/>
          <p:cNvSpPr/>
          <p:nvPr/>
        </p:nvSpPr>
        <p:spPr>
          <a:xfrm>
            <a:off x="4590288" y="3995928"/>
            <a:ext cx="3611880" cy="1371600"/>
          </a:xfrm>
          <a:prstGeom prst="roundRect">
            <a:avLst>
              <a:gd name="adj" fmla="val 7000"/>
            </a:avLst>
          </a:prstGeom>
          <a:solidFill>
            <a:srgbClr val="121A26"/>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28032" y="4178808"/>
            <a:ext cx="3191256" cy="1042416"/>
          </a:xfrm>
          <a:prstGeom prst="rect">
            <a:avLst/>
          </a:prstGeom>
          <a:noFill/>
        </p:spPr>
        <p:txBody>
          <a:bodyPr wrap="square" anchor="t" lIns="0" rIns="0" tIns="0" bIns="0">
            <a:spAutoFit/>
          </a:bodyPr>
          <a:lstStyle/>
          <a:p>
            <a:r>
              <a:rPr sz="2500" b="1" i="0">
                <a:solidFill>
                  <a:srgbClr val="8A98AD"/>
                </a:solidFill>
                <a:latin typeface="Arial"/>
              </a:rPr>
              <a:t>0.37 → 0.38</a:t>
            </a:r>
          </a:p>
          <a:p>
            <a:pPr>
              <a:spcBef>
                <a:spcPts val="200"/>
              </a:spcBef>
            </a:pPr>
            <a:r>
              <a:rPr sz="1250" b="0" i="0">
                <a:solidFill>
                  <a:srgbClr val="8A98AD"/>
                </a:solidFill>
                <a:latin typeface="Arial"/>
              </a:rPr>
              <a:t>picking F1 vs CryoPPP</a:t>
            </a:r>
          </a:p>
          <a:p>
            <a:pPr>
              <a:spcBef>
                <a:spcPts val="500"/>
              </a:spcBef>
            </a:pPr>
            <a:r>
              <a:rPr sz="1050" b="1" i="0">
                <a:solidFill>
                  <a:srgbClr val="E9B949"/>
                </a:solidFill>
                <a:latin typeface="Arial"/>
              </a:rPr>
              <a:t>held-out · the honest floor</a:t>
            </a:r>
          </a:p>
        </p:txBody>
      </p:sp>
      <p:sp>
        <p:nvSpPr>
          <p:cNvPr id="13" name="Rounded Rectangle 12"/>
          <p:cNvSpPr/>
          <p:nvPr/>
        </p:nvSpPr>
        <p:spPr>
          <a:xfrm>
            <a:off x="8586216" y="2331720"/>
            <a:ext cx="3703320" cy="3035808"/>
          </a:xfrm>
          <a:prstGeom prst="roundRect">
            <a:avLst>
              <a:gd name="adj" fmla="val 7000"/>
            </a:avLst>
          </a:prstGeom>
          <a:solidFill>
            <a:srgbClr val="171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86216" y="2331720"/>
            <a:ext cx="54864" cy="3035808"/>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0536" y="2478024"/>
            <a:ext cx="3246120" cy="2761488"/>
          </a:xfrm>
          <a:prstGeom prst="rect">
            <a:avLst/>
          </a:prstGeom>
          <a:noFill/>
        </p:spPr>
        <p:txBody>
          <a:bodyPr wrap="square" anchor="ctr" lIns="0" rIns="0" tIns="0" bIns="0">
            <a:spAutoFit/>
          </a:bodyPr>
          <a:lstStyle/>
          <a:p>
            <a:pPr>
              <a:lnSpc>
                <a:spcPct val="116000"/>
              </a:lnSpc>
            </a:pPr>
            <a:r>
              <a:rPr sz="1300" b="0" i="0">
                <a:solidFill>
                  <a:srgbClr val="E9B949"/>
                </a:solidFill>
                <a:latin typeface="Arial"/>
              </a:rPr>
              <a:t>Honest ceiling: </a:t>
            </a:r>
            <a:r>
              <a:rPr sz="1300" b="0" i="0">
                <a:solidFill>
                  <a:srgbClr val="8A98AD"/>
                </a:solidFill>
                <a:latin typeface="Arial"/>
              </a:rPr>
              <a:t>on β-gal, picking-F1 after triage ≈ raw — the residual false positives are background that genuinely resembles particles, which 2D classification, not the picker, is built to resolve. The classifier's measurable value is purity and a clean kept set — every number is tagged in-sample or held-out.</a:t>
            </a:r>
          </a:p>
        </p:txBody>
      </p:sp>
      <p:sp>
        <p:nvSpPr>
          <p:cNvPr id="16" name="TextBox 15"/>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7" name="TextBox 16"/>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6/12</a:t>
            </a:r>
          </a:p>
        </p:txBody>
      </p:sp>
      <p:sp>
        <p:nvSpPr>
          <p:cNvPr id="18" name="Rectangle 17"/>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HONEST EVALUATION</a:t>
            </a:r>
          </a:p>
        </p:txBody>
      </p:sp>
      <p:sp>
        <p:nvSpPr>
          <p:cNvPr id="4" name="TextBox 3"/>
          <p:cNvSpPr txBox="1"/>
          <p:nvPr/>
        </p:nvSpPr>
        <p:spPr>
          <a:xfrm>
            <a:off x="685800" y="960120"/>
            <a:ext cx="5852160" cy="914400"/>
          </a:xfrm>
          <a:prstGeom prst="rect">
            <a:avLst/>
          </a:prstGeom>
          <a:noFill/>
        </p:spPr>
        <p:txBody>
          <a:bodyPr wrap="square" anchor="t" lIns="0" rIns="0" tIns="0" bIns="0">
            <a:spAutoFit/>
          </a:bodyPr>
          <a:lstStyle/>
          <a:p>
            <a:r>
              <a:rPr sz="2500" b="1" i="0">
                <a:solidFill>
                  <a:srgbClr val="EAF1F9"/>
                </a:solidFill>
                <a:latin typeface="Arial"/>
              </a:rPr>
              <a:t>Scored against expert CryoPPP ground truth.</a:t>
            </a:r>
          </a:p>
        </p:txBody>
      </p:sp>
      <p:sp>
        <p:nvSpPr>
          <p:cNvPr id="5" name="TextBox 4"/>
          <p:cNvSpPr txBox="1"/>
          <p:nvPr/>
        </p:nvSpPr>
        <p:spPr>
          <a:xfrm>
            <a:off x="685800" y="2103120"/>
            <a:ext cx="5577840" cy="3108960"/>
          </a:xfrm>
          <a:prstGeom prst="rect">
            <a:avLst/>
          </a:prstGeom>
          <a:noFill/>
        </p:spPr>
        <p:txBody>
          <a:bodyPr wrap="square" anchor="t" lIns="0" rIns="0" tIns="0" bIns="0">
            <a:spAutoFit/>
          </a:bodyPr>
          <a:lstStyle/>
          <a:p>
            <a:pPr>
              <a:lnSpc>
                <a:spcPct val="113000"/>
              </a:lnSpc>
              <a:spcAft>
                <a:spcPts val="1300"/>
              </a:spcAft>
            </a:pPr>
            <a:r>
              <a:rPr sz="1200" b="1" i="0">
                <a:solidFill>
                  <a:srgbClr val="2AD29B"/>
                </a:solidFill>
                <a:latin typeface="Arial"/>
              </a:rPr>
              <a:t>▪  </a:t>
            </a:r>
            <a:r>
              <a:rPr sz="1500" b="0" i="0">
                <a:solidFill>
                  <a:srgbClr val="EAF1F9"/>
                </a:solidFill>
                <a:latin typeface="Arial"/>
              </a:rPr>
              <a:t>Picks matched to CryoPPP's hand-labelled particles within the particle radius.</a:t>
            </a:r>
          </a:p>
          <a:p>
            <a:pPr>
              <a:lnSpc>
                <a:spcPct val="113000"/>
              </a:lnSpc>
              <a:spcAft>
                <a:spcPts val="1300"/>
              </a:spcAft>
            </a:pPr>
            <a:r>
              <a:rPr sz="1200" b="1" i="0">
                <a:solidFill>
                  <a:srgbClr val="2AD29B"/>
                </a:solidFill>
                <a:latin typeface="Arial"/>
              </a:rPr>
              <a:t>▪  </a:t>
            </a:r>
            <a:r>
              <a:rPr sz="1500" b="0" i="0">
                <a:solidFill>
                  <a:srgbClr val="EAF1F9"/>
                </a:solidFill>
                <a:latin typeface="Arial"/>
              </a:rPr>
              <a:t>We report </a:t>
            </a:r>
            <a:r>
              <a:rPr sz="1500" b="0" i="0">
                <a:solidFill>
                  <a:srgbClr val="8A98AD"/>
                </a:solidFill>
                <a:latin typeface="Arial"/>
              </a:rPr>
              <a:t>precision / recall / F1</a:t>
            </a:r>
            <a:r>
              <a:rPr sz="1500" b="0" i="0">
                <a:solidFill>
                  <a:srgbClr val="EAF1F9"/>
                </a:solidFill>
                <a:latin typeface="Arial"/>
              </a:rPr>
              <a:t> per micrograph — held-out, not just in-sample.</a:t>
            </a:r>
          </a:p>
          <a:p>
            <a:pPr>
              <a:lnSpc>
                <a:spcPct val="113000"/>
              </a:lnSpc>
              <a:spcAft>
                <a:spcPts val="1300"/>
              </a:spcAft>
            </a:pPr>
            <a:r>
              <a:rPr sz="1200" b="1" i="0">
                <a:solidFill>
                  <a:srgbClr val="5F6E84"/>
                </a:solidFill>
                <a:latin typeface="Arial"/>
              </a:rPr>
              <a:t>▪  </a:t>
            </a:r>
            <a:r>
              <a:rPr sz="1500" b="0" i="0">
                <a:solidFill>
                  <a:srgbClr val="8A98AD"/>
                </a:solidFill>
                <a:latin typeface="Arial"/>
              </a:rPr>
              <a:t>Published DL pickers reach ~0.73 F1 on their own protocols (different data &amp; splits) — greyed context, never a head-to-head.</a:t>
            </a:r>
          </a:p>
        </p:txBody>
      </p:sp>
      <p:sp>
        <p:nvSpPr>
          <p:cNvPr id="6" name="Rectangle 5"/>
          <p:cNvSpPr/>
          <p:nvPr/>
        </p:nvSpPr>
        <p:spPr>
          <a:xfrm>
            <a:off x="6647688" y="1078992"/>
            <a:ext cx="4672584" cy="4791456"/>
          </a:xfrm>
          <a:prstGeom prst="rect">
            <a:avLst/>
          </a:prstGeom>
          <a:solidFill>
            <a:srgbClr val="00000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t.jpg"/>
          <p:cNvPicPr>
            <a:picLocks noChangeAspect="1"/>
          </p:cNvPicPr>
          <p:nvPr/>
        </p:nvPicPr>
        <p:blipFill>
          <a:blip r:embed="rId2"/>
          <a:stretch>
            <a:fillRect/>
          </a:stretch>
        </p:blipFill>
        <p:spPr>
          <a:xfrm>
            <a:off x="6665975" y="1097280"/>
            <a:ext cx="4636008" cy="4754880"/>
          </a:xfrm>
          <a:prstGeom prst="rect">
            <a:avLst/>
          </a:prstGeom>
        </p:spPr>
      </p:pic>
      <p:sp>
        <p:nvSpPr>
          <p:cNvPr id="8" name="TextBox 7"/>
          <p:cNvSpPr txBox="1"/>
          <p:nvPr/>
        </p:nvSpPr>
        <p:spPr>
          <a:xfrm>
            <a:off x="6492240" y="5943600"/>
            <a:ext cx="4983480" cy="457200"/>
          </a:xfrm>
          <a:prstGeom prst="rect">
            <a:avLst/>
          </a:prstGeom>
          <a:noFill/>
        </p:spPr>
        <p:txBody>
          <a:bodyPr wrap="square" anchor="t" lIns="0" rIns="0" tIns="0" bIns="0">
            <a:spAutoFit/>
          </a:bodyPr>
          <a:lstStyle/>
          <a:p>
            <a:r>
              <a:rPr sz="1150" b="0" i="0">
                <a:solidFill>
                  <a:srgbClr val="5F6E84"/>
                </a:solidFill>
                <a:latin typeface="Arial"/>
              </a:rPr>
              <a:t>Candidate picks overlaid against CryoPPP ground-truth positions.</a:t>
            </a:r>
          </a:p>
        </p:txBody>
      </p:sp>
      <p:sp>
        <p:nvSpPr>
          <p:cNvPr id="9" name="TextBox 8"/>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0" name="TextBox 9"/>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7/12</a:t>
            </a:r>
          </a:p>
        </p:txBody>
      </p:sp>
      <p:sp>
        <p:nvSpPr>
          <p:cNvPr id="11" name="Rectangle 10"/>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HUMAN-IN-THE-LOOP · M2</a:t>
            </a:r>
          </a:p>
        </p:txBody>
      </p:sp>
      <p:sp>
        <p:nvSpPr>
          <p:cNvPr id="4" name="TextBox 3"/>
          <p:cNvSpPr txBox="1"/>
          <p:nvPr/>
        </p:nvSpPr>
        <p:spPr>
          <a:xfrm>
            <a:off x="685800" y="960120"/>
            <a:ext cx="5486400" cy="914400"/>
          </a:xfrm>
          <a:prstGeom prst="rect">
            <a:avLst/>
          </a:prstGeom>
          <a:noFill/>
        </p:spPr>
        <p:txBody>
          <a:bodyPr wrap="square" anchor="t" lIns="0" rIns="0" tIns="0" bIns="0">
            <a:spAutoFit/>
          </a:bodyPr>
          <a:lstStyle/>
          <a:p>
            <a:r>
              <a:rPr sz="2500" b="1" i="0">
                <a:solidFill>
                  <a:srgbClr val="EAF1F9"/>
                </a:solidFill>
                <a:latin typeface="Arial"/>
              </a:rPr>
              <a:t>It learns from your corrections — live.</a:t>
            </a:r>
          </a:p>
        </p:txBody>
      </p:sp>
      <p:sp>
        <p:nvSpPr>
          <p:cNvPr id="5" name="TextBox 4"/>
          <p:cNvSpPr txBox="1"/>
          <p:nvPr/>
        </p:nvSpPr>
        <p:spPr>
          <a:xfrm>
            <a:off x="685800" y="2103120"/>
            <a:ext cx="5486400" cy="2377440"/>
          </a:xfrm>
          <a:prstGeom prst="rect">
            <a:avLst/>
          </a:prstGeom>
          <a:noFill/>
        </p:spPr>
        <p:txBody>
          <a:bodyPr wrap="square" anchor="t" lIns="0" rIns="0" tIns="0" bIns="0">
            <a:spAutoFit/>
          </a:bodyPr>
          <a:lstStyle/>
          <a:p>
            <a:pPr>
              <a:lnSpc>
                <a:spcPct val="113000"/>
              </a:lnSpc>
              <a:spcAft>
                <a:spcPts val="1300"/>
              </a:spcAft>
            </a:pPr>
            <a:r>
              <a:rPr sz="1200" b="1" i="0">
                <a:solidFill>
                  <a:srgbClr val="2AD29B"/>
                </a:solidFill>
                <a:latin typeface="Arial"/>
              </a:rPr>
              <a:t>▪  </a:t>
            </a:r>
            <a:r>
              <a:rPr sz="1500" b="0" i="0">
                <a:solidFill>
                  <a:srgbClr val="EAF1F9"/>
                </a:solidFill>
                <a:latin typeface="Arial"/>
              </a:rPr>
              <a:t>Cold-start: the model begins </a:t>
            </a:r>
            <a:r>
              <a:rPr sz="1500" b="0" i="0">
                <a:solidFill>
                  <a:srgbClr val="8A98AD"/>
                </a:solidFill>
                <a:latin typeface="Arial"/>
              </a:rPr>
              <a:t>junk-blind</a:t>
            </a:r>
            <a:r>
              <a:rPr sz="1500" b="0" i="0">
                <a:solidFill>
                  <a:srgbClr val="EAF1F9"/>
                </a:solidFill>
                <a:latin typeface="Arial"/>
              </a:rPr>
              <a:t>.</a:t>
            </a:r>
          </a:p>
          <a:p>
            <a:pPr>
              <a:lnSpc>
                <a:spcPct val="113000"/>
              </a:lnSpc>
              <a:spcAft>
                <a:spcPts val="1300"/>
              </a:spcAft>
            </a:pPr>
            <a:r>
              <a:rPr sz="1200" b="1" i="0">
                <a:solidFill>
                  <a:srgbClr val="2AD29B"/>
                </a:solidFill>
                <a:latin typeface="Arial"/>
              </a:rPr>
              <a:t>▪  </a:t>
            </a:r>
            <a:r>
              <a:rPr sz="1500" b="0" i="0">
                <a:solidFill>
                  <a:srgbClr val="EAF1F9"/>
                </a:solidFill>
                <a:latin typeface="Arial"/>
              </a:rPr>
              <a:t>Box-brush to keep or dump particles in bulk; the </a:t>
            </a:r>
            <a:r>
              <a:rPr sz="1500" b="0" i="0">
                <a:solidFill>
                  <a:srgbClr val="8A98AD"/>
                </a:solidFill>
                <a:latin typeface="Arial"/>
              </a:rPr>
              <a:t>junk-rejection F1 climbs</a:t>
            </a:r>
            <a:r>
              <a:rPr sz="1500" b="0" i="0">
                <a:solidFill>
                  <a:srgbClr val="EAF1F9"/>
                </a:solidFill>
                <a:latin typeface="Arial"/>
              </a:rPr>
              <a:t> as it learns.</a:t>
            </a:r>
          </a:p>
          <a:p>
            <a:pPr>
              <a:lnSpc>
                <a:spcPct val="113000"/>
              </a:lnSpc>
              <a:spcAft>
                <a:spcPts val="1300"/>
              </a:spcAft>
            </a:pPr>
            <a:r>
              <a:rPr sz="1200" b="1" i="0">
                <a:solidFill>
                  <a:srgbClr val="2AD29B"/>
                </a:solidFill>
                <a:latin typeface="Arial"/>
              </a:rPr>
              <a:t>▪  </a:t>
            </a:r>
            <a:r>
              <a:rPr sz="1500" b="0" i="0">
                <a:solidFill>
                  <a:srgbClr val="EAF1F9"/>
                </a:solidFill>
                <a:latin typeface="Arial"/>
              </a:rPr>
              <a:t>Full </a:t>
            </a:r>
            <a:r>
              <a:rPr sz="1500" b="0" i="0">
                <a:solidFill>
                  <a:srgbClr val="8A98AD"/>
                </a:solidFill>
                <a:latin typeface="Arial"/>
              </a:rPr>
              <a:t>undo / redo</a:t>
            </a:r>
            <a:r>
              <a:rPr sz="1500" b="0" i="0">
                <a:solidFill>
                  <a:srgbClr val="EAF1F9"/>
                </a:solidFill>
                <a:latin typeface="Arial"/>
              </a:rPr>
              <a:t> (Ctrl/Cmd+Z); every change flows into the export.</a:t>
            </a:r>
          </a:p>
        </p:txBody>
      </p:sp>
      <p:sp>
        <p:nvSpPr>
          <p:cNvPr id="6" name="TextBox 5"/>
          <p:cNvSpPr txBox="1"/>
          <p:nvPr/>
        </p:nvSpPr>
        <p:spPr>
          <a:xfrm>
            <a:off x="685800" y="4480560"/>
            <a:ext cx="5486400" cy="914400"/>
          </a:xfrm>
          <a:prstGeom prst="rect">
            <a:avLst/>
          </a:prstGeom>
          <a:noFill/>
        </p:spPr>
        <p:txBody>
          <a:bodyPr wrap="square" anchor="t" lIns="0" rIns="0" tIns="0" bIns="0">
            <a:spAutoFit/>
          </a:bodyPr>
          <a:lstStyle/>
          <a:p>
            <a:pPr>
              <a:lnSpc>
                <a:spcPct val="120000"/>
              </a:lnSpc>
            </a:pPr>
            <a:r>
              <a:rPr sz="1600" b="0" i="0">
                <a:solidFill>
                  <a:srgbClr val="8A98AD"/>
                </a:solidFill>
                <a:latin typeface="Arial"/>
              </a:rPr>
              <a:t>This is the “it learns from me” loop that batch CLI pickers don't have.</a:t>
            </a:r>
          </a:p>
        </p:txBody>
      </p:sp>
      <p:sp>
        <p:nvSpPr>
          <p:cNvPr id="7" name="Rectangle 6"/>
          <p:cNvSpPr/>
          <p:nvPr/>
        </p:nvSpPr>
        <p:spPr>
          <a:xfrm>
            <a:off x="7569788" y="1078992"/>
            <a:ext cx="3148423" cy="4882896"/>
          </a:xfrm>
          <a:prstGeom prst="rect">
            <a:avLst/>
          </a:prstGeom>
          <a:solidFill>
            <a:srgbClr val="00000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earn.jpg"/>
          <p:cNvPicPr>
            <a:picLocks noChangeAspect="1"/>
          </p:cNvPicPr>
          <p:nvPr/>
        </p:nvPicPr>
        <p:blipFill>
          <a:blip r:embed="rId2"/>
          <a:stretch>
            <a:fillRect/>
          </a:stretch>
        </p:blipFill>
        <p:spPr>
          <a:xfrm>
            <a:off x="7588076" y="1097280"/>
            <a:ext cx="3111847" cy="4846320"/>
          </a:xfrm>
          <a:prstGeom prst="rect">
            <a:avLst/>
          </a:prstGeom>
        </p:spPr>
      </p:pic>
      <p:sp>
        <p:nvSpPr>
          <p:cNvPr id="9" name="TextBox 8"/>
          <p:cNvSpPr txBox="1"/>
          <p:nvPr/>
        </p:nvSpPr>
        <p:spPr>
          <a:xfrm>
            <a:off x="6400800" y="5989320"/>
            <a:ext cx="5120640" cy="457200"/>
          </a:xfrm>
          <a:prstGeom prst="rect">
            <a:avLst/>
          </a:prstGeom>
          <a:noFill/>
        </p:spPr>
        <p:txBody>
          <a:bodyPr wrap="square" anchor="t" lIns="0" rIns="0" tIns="0" bIns="0">
            <a:spAutoFit/>
          </a:bodyPr>
          <a:lstStyle/>
          <a:p>
            <a:r>
              <a:rPr sz="1150" b="0" i="0">
                <a:solidFill>
                  <a:srgbClr val="5F6E84"/>
                </a:solidFill>
                <a:latin typeface="Arial"/>
              </a:rPr>
              <a:t>Junk-rejection F1 climbing over corrections, with one-click exports.</a:t>
            </a:r>
          </a:p>
        </p:txBody>
      </p:sp>
      <p:sp>
        <p:nvSpPr>
          <p:cNvPr id="10" name="TextBox 9"/>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1" name="TextBox 10"/>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8/12</a:t>
            </a:r>
          </a:p>
        </p:txBody>
      </p:sp>
      <p:sp>
        <p:nvSpPr>
          <p:cNvPr id="12" name="Rectangle 11"/>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A PLATFORM, NOT A ONE-OFF</a:t>
            </a:r>
          </a:p>
        </p:txBody>
      </p:sp>
      <p:sp>
        <p:nvSpPr>
          <p:cNvPr id="4" name="Rectangle 3"/>
          <p:cNvSpPr/>
          <p:nvPr/>
        </p:nvSpPr>
        <p:spPr>
          <a:xfrm>
            <a:off x="667512" y="1124712"/>
            <a:ext cx="6528816" cy="4092061"/>
          </a:xfrm>
          <a:prstGeom prst="rect">
            <a:avLst/>
          </a:prstGeom>
          <a:solidFill>
            <a:srgbClr val="00000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pp.jpg"/>
          <p:cNvPicPr>
            <a:picLocks noChangeAspect="1"/>
          </p:cNvPicPr>
          <p:nvPr/>
        </p:nvPicPr>
        <p:blipFill>
          <a:blip r:embed="rId2"/>
          <a:stretch>
            <a:fillRect/>
          </a:stretch>
        </p:blipFill>
        <p:spPr>
          <a:xfrm>
            <a:off x="685800" y="1143000"/>
            <a:ext cx="6492240" cy="4055485"/>
          </a:xfrm>
          <a:prstGeom prst="rect">
            <a:avLst/>
          </a:prstGeom>
        </p:spPr>
      </p:pic>
      <p:sp>
        <p:nvSpPr>
          <p:cNvPr id="6" name="TextBox 5"/>
          <p:cNvSpPr txBox="1"/>
          <p:nvPr/>
        </p:nvSpPr>
        <p:spPr>
          <a:xfrm>
            <a:off x="685800" y="5852160"/>
            <a:ext cx="6492240" cy="457200"/>
          </a:xfrm>
          <a:prstGeom prst="rect">
            <a:avLst/>
          </a:prstGeom>
          <a:noFill/>
        </p:spPr>
        <p:txBody>
          <a:bodyPr wrap="square" anchor="t" lIns="0" rIns="0" tIns="0" bIns="0">
            <a:spAutoFit/>
          </a:bodyPr>
          <a:lstStyle/>
          <a:p>
            <a:r>
              <a:rPr sz="1150" b="0" i="0">
                <a:solidFill>
                  <a:srgbClr val="5F6E84"/>
                </a:solidFill>
                <a:latin typeface="Arial"/>
              </a:rPr>
              <a:t>The live app: canvas viewer, scoreboard, swappable picker + classifier, dataset switcher.</a:t>
            </a:r>
          </a:p>
        </p:txBody>
      </p:sp>
      <p:sp>
        <p:nvSpPr>
          <p:cNvPr id="7" name="TextBox 6"/>
          <p:cNvSpPr txBox="1"/>
          <p:nvPr/>
        </p:nvSpPr>
        <p:spPr>
          <a:xfrm>
            <a:off x="7498079" y="1234440"/>
            <a:ext cx="4023360" cy="914400"/>
          </a:xfrm>
          <a:prstGeom prst="rect">
            <a:avLst/>
          </a:prstGeom>
          <a:noFill/>
        </p:spPr>
        <p:txBody>
          <a:bodyPr wrap="square" anchor="t" lIns="0" rIns="0" tIns="0" bIns="0">
            <a:spAutoFit/>
          </a:bodyPr>
          <a:lstStyle/>
          <a:p>
            <a:r>
              <a:rPr sz="2300" b="1" i="0">
                <a:solidFill>
                  <a:srgbClr val="EAF1F9"/>
                </a:solidFill>
                <a:latin typeface="Arial"/>
              </a:rPr>
              <a:t>Everything is swappable and cached.</a:t>
            </a:r>
          </a:p>
        </p:txBody>
      </p:sp>
      <p:sp>
        <p:nvSpPr>
          <p:cNvPr id="8" name="TextBox 7"/>
          <p:cNvSpPr txBox="1"/>
          <p:nvPr/>
        </p:nvSpPr>
        <p:spPr>
          <a:xfrm>
            <a:off x="7498079" y="2286000"/>
            <a:ext cx="4023360" cy="274320"/>
          </a:xfrm>
          <a:prstGeom prst="rect">
            <a:avLst/>
          </a:prstGeom>
          <a:noFill/>
        </p:spPr>
        <p:txBody>
          <a:bodyPr wrap="square" anchor="t" lIns="0" rIns="0" tIns="0" bIns="0">
            <a:spAutoFit/>
          </a:bodyPr>
          <a:lstStyle/>
          <a:p>
            <a:r>
              <a:rPr sz="1100" b="1" i="0">
                <a:solidFill>
                  <a:srgbClr val="5F6E84"/>
                </a:solidFill>
                <a:latin typeface="Arial"/>
              </a:rPr>
              <a:t>PICKERS</a:t>
            </a:r>
          </a:p>
        </p:txBody>
      </p:sp>
      <p:sp>
        <p:nvSpPr>
          <p:cNvPr id="9" name="Rounded Rectangle 8"/>
          <p:cNvSpPr/>
          <p:nvPr/>
        </p:nvSpPr>
        <p:spPr>
          <a:xfrm>
            <a:off x="7498079" y="2578608"/>
            <a:ext cx="1477670"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44383" y="2578608"/>
            <a:ext cx="1221638" cy="384048"/>
          </a:xfrm>
          <a:prstGeom prst="rect">
            <a:avLst/>
          </a:prstGeom>
          <a:noFill/>
        </p:spPr>
        <p:txBody>
          <a:bodyPr wrap="square" anchor="ctr" lIns="0" rIns="0" tIns="0" bIns="0">
            <a:spAutoFit/>
          </a:bodyPr>
          <a:lstStyle/>
          <a:p>
            <a:r>
              <a:rPr sz="1250" b="1" i="0">
                <a:solidFill>
                  <a:srgbClr val="EAF1F9"/>
                </a:solidFill>
                <a:latin typeface="Arial"/>
              </a:rPr>
              <a:t>Blob LoG </a:t>
            </a:r>
            <a:r>
              <a:rPr sz="1250" b="0" i="0">
                <a:solidFill>
                  <a:srgbClr val="8A98AD"/>
                </a:solidFill>
                <a:latin typeface="Arial"/>
              </a:rPr>
              <a:t>· CPU</a:t>
            </a:r>
          </a:p>
        </p:txBody>
      </p:sp>
      <p:sp>
        <p:nvSpPr>
          <p:cNvPr id="11" name="Rounded Rectangle 10"/>
          <p:cNvSpPr/>
          <p:nvPr/>
        </p:nvSpPr>
        <p:spPr>
          <a:xfrm>
            <a:off x="9094622" y="2578608"/>
            <a:ext cx="1225295"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40926" y="2578608"/>
            <a:ext cx="969263" cy="384048"/>
          </a:xfrm>
          <a:prstGeom prst="rect">
            <a:avLst/>
          </a:prstGeom>
          <a:noFill/>
        </p:spPr>
        <p:txBody>
          <a:bodyPr wrap="square" anchor="ctr" lIns="0" rIns="0" tIns="0" bIns="0">
            <a:spAutoFit/>
          </a:bodyPr>
          <a:lstStyle/>
          <a:p>
            <a:r>
              <a:rPr sz="1250" b="1" i="0">
                <a:solidFill>
                  <a:srgbClr val="EAF1F9"/>
                </a:solidFill>
                <a:latin typeface="Arial"/>
              </a:rPr>
              <a:t>Topaz </a:t>
            </a:r>
            <a:r>
              <a:rPr sz="1250" b="0" i="0">
                <a:solidFill>
                  <a:srgbClr val="8A98AD"/>
                </a:solidFill>
                <a:latin typeface="Arial"/>
              </a:rPr>
              <a:t>· GPU</a:t>
            </a:r>
          </a:p>
        </p:txBody>
      </p:sp>
      <p:sp>
        <p:nvSpPr>
          <p:cNvPr id="13" name="Rounded Rectangle 12"/>
          <p:cNvSpPr/>
          <p:nvPr/>
        </p:nvSpPr>
        <p:spPr>
          <a:xfrm>
            <a:off x="10438790" y="2578608"/>
            <a:ext cx="1645919"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85094" y="2578608"/>
            <a:ext cx="1389887" cy="384048"/>
          </a:xfrm>
          <a:prstGeom prst="rect">
            <a:avLst/>
          </a:prstGeom>
          <a:noFill/>
        </p:spPr>
        <p:txBody>
          <a:bodyPr wrap="square" anchor="ctr" lIns="0" rIns="0" tIns="0" bIns="0">
            <a:spAutoFit/>
          </a:bodyPr>
          <a:lstStyle/>
          <a:p>
            <a:r>
              <a:rPr sz="1250" b="1" i="0">
                <a:solidFill>
                  <a:srgbClr val="EAF1F9"/>
                </a:solidFill>
                <a:latin typeface="Arial"/>
              </a:rPr>
              <a:t>CryoSegNet </a:t>
            </a:r>
            <a:r>
              <a:rPr sz="1250" b="0" i="0">
                <a:solidFill>
                  <a:srgbClr val="8A98AD"/>
                </a:solidFill>
                <a:latin typeface="Arial"/>
              </a:rPr>
              <a:t>· GPU</a:t>
            </a:r>
          </a:p>
        </p:txBody>
      </p:sp>
      <p:sp>
        <p:nvSpPr>
          <p:cNvPr id="15" name="TextBox 14"/>
          <p:cNvSpPr txBox="1"/>
          <p:nvPr/>
        </p:nvSpPr>
        <p:spPr>
          <a:xfrm>
            <a:off x="7498079" y="3246120"/>
            <a:ext cx="4023360" cy="274320"/>
          </a:xfrm>
          <a:prstGeom prst="rect">
            <a:avLst/>
          </a:prstGeom>
          <a:noFill/>
        </p:spPr>
        <p:txBody>
          <a:bodyPr wrap="square" anchor="t" lIns="0" rIns="0" tIns="0" bIns="0">
            <a:spAutoFit/>
          </a:bodyPr>
          <a:lstStyle/>
          <a:p>
            <a:r>
              <a:rPr sz="1100" b="1" i="0">
                <a:solidFill>
                  <a:srgbClr val="5F6E84"/>
                </a:solidFill>
                <a:latin typeface="Arial"/>
              </a:rPr>
              <a:t>JUNK CLASSIFIERS</a:t>
            </a:r>
          </a:p>
        </p:txBody>
      </p:sp>
      <p:sp>
        <p:nvSpPr>
          <p:cNvPr id="16" name="Rounded Rectangle 15"/>
          <p:cNvSpPr/>
          <p:nvPr/>
        </p:nvSpPr>
        <p:spPr>
          <a:xfrm>
            <a:off x="7498079" y="3538727"/>
            <a:ext cx="1057046"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44383" y="3538727"/>
            <a:ext cx="801014" cy="384048"/>
          </a:xfrm>
          <a:prstGeom prst="rect">
            <a:avLst/>
          </a:prstGeom>
          <a:noFill/>
        </p:spPr>
        <p:txBody>
          <a:bodyPr wrap="square" anchor="ctr" lIns="0" rIns="0" tIns="0" bIns="0">
            <a:spAutoFit/>
          </a:bodyPr>
          <a:lstStyle/>
          <a:p>
            <a:r>
              <a:rPr sz="1250" b="1" i="0">
                <a:solidFill>
                  <a:srgbClr val="EAF1F9"/>
                </a:solidFill>
                <a:latin typeface="Arial"/>
              </a:rPr>
              <a:t>LightGBM </a:t>
            </a:r>
          </a:p>
        </p:txBody>
      </p:sp>
      <p:sp>
        <p:nvSpPr>
          <p:cNvPr id="18" name="Rounded Rectangle 17"/>
          <p:cNvSpPr/>
          <p:nvPr/>
        </p:nvSpPr>
        <p:spPr>
          <a:xfrm>
            <a:off x="8673998" y="3538727"/>
            <a:ext cx="1393545"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0302" y="3538727"/>
            <a:ext cx="1137513" cy="384048"/>
          </a:xfrm>
          <a:prstGeom prst="rect">
            <a:avLst/>
          </a:prstGeom>
          <a:noFill/>
        </p:spPr>
        <p:txBody>
          <a:bodyPr wrap="square" anchor="ctr" lIns="0" rIns="0" tIns="0" bIns="0">
            <a:spAutoFit/>
          </a:bodyPr>
          <a:lstStyle/>
          <a:p>
            <a:r>
              <a:rPr sz="1250" b="1" i="0">
                <a:solidFill>
                  <a:srgbClr val="EAF1F9"/>
                </a:solidFill>
                <a:latin typeface="Arial"/>
              </a:rPr>
              <a:t>RandomForest </a:t>
            </a:r>
          </a:p>
        </p:txBody>
      </p:sp>
      <p:sp>
        <p:nvSpPr>
          <p:cNvPr id="20" name="Rounded Rectangle 19"/>
          <p:cNvSpPr/>
          <p:nvPr/>
        </p:nvSpPr>
        <p:spPr>
          <a:xfrm>
            <a:off x="10186415" y="3538727"/>
            <a:ext cx="1309420"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19" y="3538727"/>
            <a:ext cx="1053388" cy="384048"/>
          </a:xfrm>
          <a:prstGeom prst="rect">
            <a:avLst/>
          </a:prstGeom>
          <a:noFill/>
        </p:spPr>
        <p:txBody>
          <a:bodyPr wrap="square" anchor="ctr" lIns="0" rIns="0" tIns="0" bIns="0">
            <a:spAutoFit/>
          </a:bodyPr>
          <a:lstStyle/>
          <a:p>
            <a:r>
              <a:rPr sz="1250" b="1" i="0">
                <a:solidFill>
                  <a:srgbClr val="EAF1F9"/>
                </a:solidFill>
                <a:latin typeface="Arial"/>
              </a:rPr>
              <a:t>SGD </a:t>
            </a:r>
            <a:r>
              <a:rPr sz="1250" b="0" i="0">
                <a:solidFill>
                  <a:srgbClr val="8A98AD"/>
                </a:solidFill>
                <a:latin typeface="Arial"/>
              </a:rPr>
              <a:t>· online</a:t>
            </a:r>
          </a:p>
        </p:txBody>
      </p:sp>
      <p:sp>
        <p:nvSpPr>
          <p:cNvPr id="22" name="Rounded Rectangle 21"/>
          <p:cNvSpPr/>
          <p:nvPr/>
        </p:nvSpPr>
        <p:spPr>
          <a:xfrm>
            <a:off x="11614708" y="3538727"/>
            <a:ext cx="636422"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61012" y="3538727"/>
            <a:ext cx="380390" cy="384048"/>
          </a:xfrm>
          <a:prstGeom prst="rect">
            <a:avLst/>
          </a:prstGeom>
          <a:noFill/>
        </p:spPr>
        <p:txBody>
          <a:bodyPr wrap="square" anchor="ctr" lIns="0" rIns="0" tIns="0" bIns="0">
            <a:spAutoFit/>
          </a:bodyPr>
          <a:lstStyle/>
          <a:p>
            <a:r>
              <a:rPr sz="1250" b="1" i="0">
                <a:solidFill>
                  <a:srgbClr val="EAF1F9"/>
                </a:solidFill>
                <a:latin typeface="Arial"/>
              </a:rPr>
              <a:t>CNN </a:t>
            </a:r>
          </a:p>
        </p:txBody>
      </p:sp>
      <p:sp>
        <p:nvSpPr>
          <p:cNvPr id="24" name="TextBox 23"/>
          <p:cNvSpPr txBox="1"/>
          <p:nvPr/>
        </p:nvSpPr>
        <p:spPr>
          <a:xfrm>
            <a:off x="7498079" y="4206240"/>
            <a:ext cx="4023360" cy="274320"/>
          </a:xfrm>
          <a:prstGeom prst="rect">
            <a:avLst/>
          </a:prstGeom>
          <a:noFill/>
        </p:spPr>
        <p:txBody>
          <a:bodyPr wrap="square" anchor="t" lIns="0" rIns="0" tIns="0" bIns="0">
            <a:spAutoFit/>
          </a:bodyPr>
          <a:lstStyle/>
          <a:p>
            <a:r>
              <a:rPr sz="1100" b="1" i="0">
                <a:solidFill>
                  <a:srgbClr val="5F6E84"/>
                </a:solidFill>
                <a:latin typeface="Arial"/>
              </a:rPr>
              <a:t>DATASETS</a:t>
            </a:r>
          </a:p>
        </p:txBody>
      </p:sp>
      <p:sp>
        <p:nvSpPr>
          <p:cNvPr id="25" name="Rounded Rectangle 24"/>
          <p:cNvSpPr/>
          <p:nvPr/>
        </p:nvSpPr>
        <p:spPr>
          <a:xfrm>
            <a:off x="7498079" y="4498848"/>
            <a:ext cx="804671"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44383" y="4498848"/>
            <a:ext cx="548639" cy="384048"/>
          </a:xfrm>
          <a:prstGeom prst="rect">
            <a:avLst/>
          </a:prstGeom>
          <a:noFill/>
        </p:spPr>
        <p:txBody>
          <a:bodyPr wrap="square" anchor="ctr" lIns="0" rIns="0" tIns="0" bIns="0">
            <a:spAutoFit/>
          </a:bodyPr>
          <a:lstStyle/>
          <a:p>
            <a:r>
              <a:rPr sz="1250" b="1" i="0">
                <a:solidFill>
                  <a:srgbClr val="EAF1F9"/>
                </a:solidFill>
                <a:latin typeface="Arial"/>
              </a:rPr>
              <a:t>β-gal </a:t>
            </a:r>
          </a:p>
        </p:txBody>
      </p:sp>
      <p:sp>
        <p:nvSpPr>
          <p:cNvPr id="27" name="Rounded Rectangle 26"/>
          <p:cNvSpPr/>
          <p:nvPr/>
        </p:nvSpPr>
        <p:spPr>
          <a:xfrm>
            <a:off x="8421624" y="4498848"/>
            <a:ext cx="636422"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4498848"/>
            <a:ext cx="380390" cy="384048"/>
          </a:xfrm>
          <a:prstGeom prst="rect">
            <a:avLst/>
          </a:prstGeom>
          <a:noFill/>
        </p:spPr>
        <p:txBody>
          <a:bodyPr wrap="square" anchor="ctr" lIns="0" rIns="0" tIns="0" bIns="0">
            <a:spAutoFit/>
          </a:bodyPr>
          <a:lstStyle/>
          <a:p>
            <a:r>
              <a:rPr sz="1250" b="1" i="0">
                <a:solidFill>
                  <a:srgbClr val="EAF1F9"/>
                </a:solidFill>
                <a:latin typeface="Arial"/>
              </a:rPr>
              <a:t>TMV </a:t>
            </a:r>
          </a:p>
        </p:txBody>
      </p:sp>
      <p:sp>
        <p:nvSpPr>
          <p:cNvPr id="29" name="Rounded Rectangle 28"/>
          <p:cNvSpPr/>
          <p:nvPr/>
        </p:nvSpPr>
        <p:spPr>
          <a:xfrm>
            <a:off x="9176918" y="4498848"/>
            <a:ext cx="1225295"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3222" y="4498848"/>
            <a:ext cx="969263" cy="384048"/>
          </a:xfrm>
          <a:prstGeom prst="rect">
            <a:avLst/>
          </a:prstGeom>
          <a:noFill/>
        </p:spPr>
        <p:txBody>
          <a:bodyPr wrap="square" anchor="ctr" lIns="0" rIns="0" tIns="0" bIns="0">
            <a:spAutoFit/>
          </a:bodyPr>
          <a:lstStyle/>
          <a:p>
            <a:r>
              <a:rPr sz="1250" b="1" i="0">
                <a:solidFill>
                  <a:srgbClr val="EAF1F9"/>
                </a:solidFill>
                <a:latin typeface="Arial"/>
              </a:rPr>
              <a:t>proteasome </a:t>
            </a:r>
          </a:p>
        </p:txBody>
      </p:sp>
      <p:sp>
        <p:nvSpPr>
          <p:cNvPr id="31" name="Rounded Rectangle 30"/>
          <p:cNvSpPr/>
          <p:nvPr/>
        </p:nvSpPr>
        <p:spPr>
          <a:xfrm>
            <a:off x="10521086" y="4498848"/>
            <a:ext cx="1393545"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67390" y="4498848"/>
            <a:ext cx="1137513" cy="384048"/>
          </a:xfrm>
          <a:prstGeom prst="rect">
            <a:avLst/>
          </a:prstGeom>
          <a:noFill/>
        </p:spPr>
        <p:txBody>
          <a:bodyPr wrap="square" anchor="ctr" lIns="0" rIns="0" tIns="0" bIns="0">
            <a:spAutoFit/>
          </a:bodyPr>
          <a:lstStyle/>
          <a:p>
            <a:r>
              <a:rPr sz="1250" b="1" i="0">
                <a:solidFill>
                  <a:srgbClr val="EAF1F9"/>
                </a:solidFill>
                <a:latin typeface="Arial"/>
              </a:rPr>
              <a:t>+ upload MRC </a:t>
            </a:r>
          </a:p>
        </p:txBody>
      </p:sp>
      <p:sp>
        <p:nvSpPr>
          <p:cNvPr id="33" name="TextBox 32"/>
          <p:cNvSpPr txBox="1"/>
          <p:nvPr/>
        </p:nvSpPr>
        <p:spPr>
          <a:xfrm>
            <a:off x="7498079" y="5166359"/>
            <a:ext cx="4023360" cy="274320"/>
          </a:xfrm>
          <a:prstGeom prst="rect">
            <a:avLst/>
          </a:prstGeom>
          <a:noFill/>
        </p:spPr>
        <p:txBody>
          <a:bodyPr wrap="square" anchor="t" lIns="0" rIns="0" tIns="0" bIns="0">
            <a:spAutoFit/>
          </a:bodyPr>
          <a:lstStyle/>
          <a:p>
            <a:r>
              <a:rPr sz="1100" b="1" i="0">
                <a:solidFill>
                  <a:srgbClr val="5F6E84"/>
                </a:solidFill>
                <a:latin typeface="Arial"/>
              </a:rPr>
              <a:t>EXPORT</a:t>
            </a:r>
          </a:p>
        </p:txBody>
      </p:sp>
      <p:sp>
        <p:nvSpPr>
          <p:cNvPr id="34" name="Rounded Rectangle 33"/>
          <p:cNvSpPr/>
          <p:nvPr/>
        </p:nvSpPr>
        <p:spPr>
          <a:xfrm>
            <a:off x="7498079" y="5458968"/>
            <a:ext cx="804671"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44383" y="5458968"/>
            <a:ext cx="548639" cy="384048"/>
          </a:xfrm>
          <a:prstGeom prst="rect">
            <a:avLst/>
          </a:prstGeom>
          <a:noFill/>
        </p:spPr>
        <p:txBody>
          <a:bodyPr wrap="square" anchor="ctr" lIns="0" rIns="0" tIns="0" bIns="0">
            <a:spAutoFit/>
          </a:bodyPr>
          <a:lstStyle/>
          <a:p>
            <a:r>
              <a:rPr sz="1250" b="1" i="0">
                <a:solidFill>
                  <a:srgbClr val="EAF1F9"/>
                </a:solidFill>
                <a:latin typeface="Arial"/>
              </a:rPr>
              <a:t>.star </a:t>
            </a:r>
          </a:p>
        </p:txBody>
      </p:sp>
      <p:sp>
        <p:nvSpPr>
          <p:cNvPr id="36" name="Rounded Rectangle 35"/>
          <p:cNvSpPr/>
          <p:nvPr/>
        </p:nvSpPr>
        <p:spPr>
          <a:xfrm>
            <a:off x="8421624" y="5458968"/>
            <a:ext cx="720547"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5458968"/>
            <a:ext cx="464515" cy="384048"/>
          </a:xfrm>
          <a:prstGeom prst="rect">
            <a:avLst/>
          </a:prstGeom>
          <a:noFill/>
        </p:spPr>
        <p:txBody>
          <a:bodyPr wrap="square" anchor="ctr" lIns="0" rIns="0" tIns="0" bIns="0">
            <a:spAutoFit/>
          </a:bodyPr>
          <a:lstStyle/>
          <a:p>
            <a:r>
              <a:rPr sz="1250" b="1" i="0">
                <a:solidFill>
                  <a:srgbClr val="EAF1F9"/>
                </a:solidFill>
                <a:latin typeface="Arial"/>
              </a:rPr>
              <a:t>.box </a:t>
            </a:r>
          </a:p>
        </p:txBody>
      </p:sp>
      <p:sp>
        <p:nvSpPr>
          <p:cNvPr id="38" name="Rounded Rectangle 37"/>
          <p:cNvSpPr/>
          <p:nvPr/>
        </p:nvSpPr>
        <p:spPr>
          <a:xfrm>
            <a:off x="9261043" y="5458968"/>
            <a:ext cx="636422"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07347" y="5458968"/>
            <a:ext cx="380390" cy="384048"/>
          </a:xfrm>
          <a:prstGeom prst="rect">
            <a:avLst/>
          </a:prstGeom>
          <a:noFill/>
        </p:spPr>
        <p:txBody>
          <a:bodyPr wrap="square" anchor="ctr" lIns="0" rIns="0" tIns="0" bIns="0">
            <a:spAutoFit/>
          </a:bodyPr>
          <a:lstStyle/>
          <a:p>
            <a:r>
              <a:rPr sz="1250" b="1" i="0">
                <a:solidFill>
                  <a:srgbClr val="EAF1F9"/>
                </a:solidFill>
                <a:latin typeface="Arial"/>
              </a:rPr>
              <a:t>PNG </a:t>
            </a:r>
          </a:p>
        </p:txBody>
      </p:sp>
      <p:sp>
        <p:nvSpPr>
          <p:cNvPr id="40" name="Rounded Rectangle 39"/>
          <p:cNvSpPr/>
          <p:nvPr/>
        </p:nvSpPr>
        <p:spPr>
          <a:xfrm>
            <a:off x="10016337" y="5458968"/>
            <a:ext cx="1225295" cy="384048"/>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62641" y="5458968"/>
            <a:ext cx="969263" cy="384048"/>
          </a:xfrm>
          <a:prstGeom prst="rect">
            <a:avLst/>
          </a:prstGeom>
          <a:noFill/>
        </p:spPr>
        <p:txBody>
          <a:bodyPr wrap="square" anchor="ctr" lIns="0" rIns="0" tIns="0" bIns="0">
            <a:spAutoFit/>
          </a:bodyPr>
          <a:lstStyle/>
          <a:p>
            <a:r>
              <a:rPr sz="1250" b="1" i="0">
                <a:solidFill>
                  <a:srgbClr val="EAF1F9"/>
                </a:solidFill>
                <a:latin typeface="Arial"/>
              </a:rPr>
              <a:t>PDF report </a:t>
            </a:r>
          </a:p>
        </p:txBody>
      </p:sp>
      <p:sp>
        <p:nvSpPr>
          <p:cNvPr id="42" name="TextBox 41"/>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43" name="TextBox 42"/>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9/12</a:t>
            </a:r>
          </a:p>
        </p:txBody>
      </p:sp>
      <p:sp>
        <p:nvSpPr>
          <p:cNvPr id="44" name="Rectangle 43"/>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THE PROOF · M4</a:t>
            </a:r>
          </a:p>
        </p:txBody>
      </p:sp>
      <p:sp>
        <p:nvSpPr>
          <p:cNvPr id="4" name="TextBox 3"/>
          <p:cNvSpPr txBox="1"/>
          <p:nvPr/>
        </p:nvSpPr>
        <p:spPr>
          <a:xfrm>
            <a:off x="685800" y="960120"/>
            <a:ext cx="5669280" cy="1463040"/>
          </a:xfrm>
          <a:prstGeom prst="rect">
            <a:avLst/>
          </a:prstGeom>
          <a:noFill/>
        </p:spPr>
        <p:txBody>
          <a:bodyPr wrap="square" anchor="t" lIns="0" rIns="0" tIns="0" bIns="0">
            <a:spAutoFit/>
          </a:bodyPr>
          <a:lstStyle/>
          <a:p>
            <a:r>
              <a:rPr sz="2400" b="1" i="0">
                <a:solidFill>
                  <a:srgbClr val="EAF1F9"/>
                </a:solidFill>
                <a:latin typeface="Arial"/>
              </a:rPr>
              <a:t>2D class averages — “these picks are real.”</a:t>
            </a:r>
          </a:p>
        </p:txBody>
      </p:sp>
      <p:sp>
        <p:nvSpPr>
          <p:cNvPr id="5" name="TextBox 4"/>
          <p:cNvSpPr txBox="1"/>
          <p:nvPr/>
        </p:nvSpPr>
        <p:spPr>
          <a:xfrm>
            <a:off x="685800" y="2148840"/>
            <a:ext cx="5486400" cy="2377440"/>
          </a:xfrm>
          <a:prstGeom prst="rect">
            <a:avLst/>
          </a:prstGeom>
          <a:noFill/>
        </p:spPr>
        <p:txBody>
          <a:bodyPr wrap="square" anchor="t" lIns="0" rIns="0" tIns="0" bIns="0">
            <a:spAutoFit/>
          </a:bodyPr>
          <a:lstStyle/>
          <a:p>
            <a:pPr>
              <a:lnSpc>
                <a:spcPct val="113000"/>
              </a:lnSpc>
              <a:spcAft>
                <a:spcPts val="1200"/>
              </a:spcAft>
            </a:pPr>
            <a:r>
              <a:rPr sz="1200" b="1" i="0">
                <a:solidFill>
                  <a:srgbClr val="2AD29B"/>
                </a:solidFill>
                <a:latin typeface="Arial"/>
              </a:rPr>
              <a:t>▪  </a:t>
            </a:r>
            <a:r>
              <a:rPr sz="1500" b="0" i="0">
                <a:solidFill>
                  <a:srgbClr val="EAF1F9"/>
                </a:solidFill>
                <a:latin typeface="Arial"/>
              </a:rPr>
              <a:t>Reference-free 2D classification of the </a:t>
            </a:r>
            <a:r>
              <a:rPr sz="1500" b="0" i="0">
                <a:solidFill>
                  <a:srgbClr val="8A98AD"/>
                </a:solidFill>
                <a:latin typeface="Arial"/>
              </a:rPr>
              <a:t>kept</a:t>
            </a:r>
            <a:r>
              <a:rPr sz="1500" b="0" i="0">
                <a:solidFill>
                  <a:srgbClr val="EAF1F9"/>
                </a:solidFill>
                <a:latin typeface="Arial"/>
              </a:rPr>
              <a:t> particles.</a:t>
            </a:r>
          </a:p>
          <a:p>
            <a:pPr>
              <a:lnSpc>
                <a:spcPct val="113000"/>
              </a:lnSpc>
              <a:spcAft>
                <a:spcPts val="1200"/>
              </a:spcAft>
            </a:pPr>
            <a:r>
              <a:rPr sz="1200" b="1" i="0">
                <a:solidFill>
                  <a:srgbClr val="2AD29B"/>
                </a:solidFill>
                <a:latin typeface="Arial"/>
              </a:rPr>
              <a:t>▪  </a:t>
            </a:r>
            <a:r>
              <a:rPr sz="1500" b="0" i="0">
                <a:solidFill>
                  <a:srgbClr val="EAF1F9"/>
                </a:solidFill>
                <a:latin typeface="Arial"/>
              </a:rPr>
              <a:t>Iterative rotational + translational alignment, then </a:t>
            </a:r>
            <a:r>
              <a:rPr sz="1500" b="0" i="0">
                <a:solidFill>
                  <a:srgbClr val="8A98AD"/>
                </a:solidFill>
                <a:latin typeface="Arial"/>
              </a:rPr>
              <a:t>k-means clustering</a:t>
            </a:r>
            <a:r>
              <a:rPr sz="1500" b="0" i="0">
                <a:solidFill>
                  <a:srgbClr val="EAF1F9"/>
                </a:solidFill>
                <a:latin typeface="Arial"/>
              </a:rPr>
              <a:t> on band-pass crops (no CTF, no ML model).</a:t>
            </a:r>
          </a:p>
          <a:p>
            <a:pPr>
              <a:lnSpc>
                <a:spcPct val="113000"/>
              </a:lnSpc>
              <a:spcAft>
                <a:spcPts val="1200"/>
              </a:spcAft>
            </a:pPr>
            <a:r>
              <a:rPr sz="1200" b="1" i="0">
                <a:solidFill>
                  <a:srgbClr val="2AD29B"/>
                </a:solidFill>
                <a:latin typeface="Arial"/>
              </a:rPr>
              <a:t>▪  </a:t>
            </a:r>
            <a:r>
              <a:rPr sz="1500" b="0" i="0">
                <a:solidFill>
                  <a:srgbClr val="EAF1F9"/>
                </a:solidFill>
                <a:latin typeface="Arial"/>
              </a:rPr>
              <a:t>Recognisable, centred protein views emerge from the cleaned stack.</a:t>
            </a:r>
          </a:p>
        </p:txBody>
      </p:sp>
      <p:sp>
        <p:nvSpPr>
          <p:cNvPr id="6" name="Rounded Rectangle 5"/>
          <p:cNvSpPr/>
          <p:nvPr/>
        </p:nvSpPr>
        <p:spPr>
          <a:xfrm>
            <a:off x="685800" y="4526280"/>
            <a:ext cx="5486400" cy="1371600"/>
          </a:xfrm>
          <a:prstGeom prst="roundRect">
            <a:avLst>
              <a:gd name="adj" fmla="val 7000"/>
            </a:avLst>
          </a:prstGeom>
          <a:solidFill>
            <a:srgbClr val="1216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526280"/>
            <a:ext cx="54864" cy="1371600"/>
          </a:xfrm>
          <a:prstGeom prst="rect">
            <a:avLst/>
          </a:prstGeom>
          <a:solidFill>
            <a:srgbClr val="5F6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672584"/>
            <a:ext cx="5029200" cy="1097280"/>
          </a:xfrm>
          <a:prstGeom prst="rect">
            <a:avLst/>
          </a:prstGeom>
          <a:noFill/>
        </p:spPr>
        <p:txBody>
          <a:bodyPr wrap="square" anchor="ctr" lIns="0" rIns="0" tIns="0" bIns="0">
            <a:spAutoFit/>
          </a:bodyPr>
          <a:lstStyle/>
          <a:p>
            <a:pPr>
              <a:lnSpc>
                <a:spcPct val="116000"/>
              </a:lnSpc>
            </a:pPr>
            <a:r>
              <a:rPr sz="1300" b="0" i="0">
                <a:solidFill>
                  <a:srgbClr val="8A98AD"/>
                </a:solidFill>
                <a:latin typeface="Arial"/>
              </a:rPr>
              <a:t>Honest: </a:t>
            </a:r>
            <a:r>
              <a:rPr sz="1300" b="0" i="0">
                <a:solidFill>
                  <a:srgbClr val="8A98AD"/>
                </a:solidFill>
                <a:latin typeface="Arial"/>
              </a:rPr>
              <a:t>β-gal is small, low-contrast, few-view — averages won't match cryoSPARC's textbook crispness without thousands of particles + CTF. The pipeline is industry-shaped; the protein is the limit.</a:t>
            </a:r>
          </a:p>
        </p:txBody>
      </p:sp>
      <p:sp>
        <p:nvSpPr>
          <p:cNvPr id="9" name="Rounded Rectangle 8"/>
          <p:cNvSpPr/>
          <p:nvPr/>
        </p:nvSpPr>
        <p:spPr>
          <a:xfrm>
            <a:off x="6766560" y="2103120"/>
            <a:ext cx="4754880" cy="292608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lass2d.jpg"/>
          <p:cNvPicPr>
            <a:picLocks noChangeAspect="1"/>
          </p:cNvPicPr>
          <p:nvPr/>
        </p:nvPicPr>
        <p:blipFill>
          <a:blip r:embed="rId2"/>
          <a:stretch>
            <a:fillRect/>
          </a:stretch>
        </p:blipFill>
        <p:spPr>
          <a:xfrm>
            <a:off x="7040880" y="2510393"/>
            <a:ext cx="4206240" cy="2111532"/>
          </a:xfrm>
          <a:prstGeom prst="rect">
            <a:avLst/>
          </a:prstGeom>
        </p:spPr>
      </p:pic>
      <p:sp>
        <p:nvSpPr>
          <p:cNvPr id="11" name="TextBox 10"/>
          <p:cNvSpPr txBox="1"/>
          <p:nvPr/>
        </p:nvSpPr>
        <p:spPr>
          <a:xfrm>
            <a:off x="6766560" y="5120640"/>
            <a:ext cx="4754880" cy="457200"/>
          </a:xfrm>
          <a:prstGeom prst="rect">
            <a:avLst/>
          </a:prstGeom>
          <a:noFill/>
        </p:spPr>
        <p:txBody>
          <a:bodyPr wrap="square" anchor="t" lIns="0" rIns="0" tIns="0" bIns="0">
            <a:spAutoFit/>
          </a:bodyPr>
          <a:lstStyle/>
          <a:p>
            <a:r>
              <a:rPr sz="1150" b="0" i="0">
                <a:solidFill>
                  <a:srgbClr val="5F6E84"/>
                </a:solidFill>
                <a:latin typeface="Arial"/>
              </a:rPr>
              <a:t>Class-average montage of kept β-gal particles.</a:t>
            </a:r>
          </a:p>
        </p:txBody>
      </p:sp>
      <p:sp>
        <p:nvSpPr>
          <p:cNvPr id="12" name="TextBox 11"/>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3" name="TextBox 12"/>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10/12</a:t>
            </a:r>
          </a:p>
        </p:txBody>
      </p:sp>
      <p:sp>
        <p:nvSpPr>
          <p:cNvPr id="14" name="Rectangle 13"/>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10820095" cy="365760"/>
          </a:xfrm>
          <a:prstGeom prst="rect">
            <a:avLst/>
          </a:prstGeom>
          <a:noFill/>
        </p:spPr>
        <p:txBody>
          <a:bodyPr wrap="square" anchor="t" lIns="0" rIns="0" tIns="0" bIns="0">
            <a:spAutoFit/>
          </a:bodyPr>
          <a:lstStyle/>
          <a:p>
            <a:r>
              <a:rPr sz="1250" b="1" i="0">
                <a:solidFill>
                  <a:srgbClr val="4EA1FF"/>
                </a:solidFill>
                <a:latin typeface="Arial"/>
              </a:rPr>
              <a:t>WHY IT SCORES</a:t>
            </a:r>
          </a:p>
        </p:txBody>
      </p:sp>
      <p:sp>
        <p:nvSpPr>
          <p:cNvPr id="4" name="TextBox 3"/>
          <p:cNvSpPr txBox="1"/>
          <p:nvPr/>
        </p:nvSpPr>
        <p:spPr>
          <a:xfrm>
            <a:off x="685800" y="960120"/>
            <a:ext cx="10820095" cy="1463040"/>
          </a:xfrm>
          <a:prstGeom prst="rect">
            <a:avLst/>
          </a:prstGeom>
          <a:noFill/>
        </p:spPr>
        <p:txBody>
          <a:bodyPr wrap="square" anchor="t" lIns="0" rIns="0" tIns="0" bIns="0">
            <a:spAutoFit/>
          </a:bodyPr>
          <a:lstStyle/>
          <a:p>
            <a:r>
              <a:rPr sz="2400" b="1" i="0">
                <a:solidFill>
                  <a:srgbClr val="EAF1F9"/>
                </a:solidFill>
                <a:latin typeface="Arial"/>
              </a:rPr>
              <a:t>The novelty is the product — and we're honest about what it isn't.</a:t>
            </a:r>
          </a:p>
        </p:txBody>
      </p:sp>
      <p:sp>
        <p:nvSpPr>
          <p:cNvPr id="5" name="TextBox 4"/>
          <p:cNvSpPr txBox="1"/>
          <p:nvPr/>
        </p:nvSpPr>
        <p:spPr>
          <a:xfrm>
            <a:off x="685800" y="2148840"/>
            <a:ext cx="5303520" cy="274320"/>
          </a:xfrm>
          <a:prstGeom prst="rect">
            <a:avLst/>
          </a:prstGeom>
          <a:noFill/>
        </p:spPr>
        <p:txBody>
          <a:bodyPr wrap="square" anchor="t" lIns="0" rIns="0" tIns="0" bIns="0">
            <a:spAutoFit/>
          </a:bodyPr>
          <a:lstStyle/>
          <a:p>
            <a:r>
              <a:rPr sz="1100" b="1" i="0">
                <a:solidFill>
                  <a:srgbClr val="5F6E84"/>
                </a:solidFill>
                <a:latin typeface="Arial"/>
              </a:rPr>
              <a:t>WE BUILT</a:t>
            </a:r>
          </a:p>
        </p:txBody>
      </p:sp>
      <p:sp>
        <p:nvSpPr>
          <p:cNvPr id="6" name="TextBox 5"/>
          <p:cNvSpPr txBox="1"/>
          <p:nvPr/>
        </p:nvSpPr>
        <p:spPr>
          <a:xfrm>
            <a:off x="685800" y="2468880"/>
            <a:ext cx="5303520" cy="2377440"/>
          </a:xfrm>
          <a:prstGeom prst="rect">
            <a:avLst/>
          </a:prstGeom>
          <a:noFill/>
        </p:spPr>
        <p:txBody>
          <a:bodyPr wrap="square" anchor="t" lIns="0" rIns="0" tIns="0" bIns="0">
            <a:spAutoFit/>
          </a:bodyPr>
          <a:lstStyle/>
          <a:p>
            <a:pPr>
              <a:lnSpc>
                <a:spcPct val="113000"/>
              </a:lnSpc>
              <a:spcAft>
                <a:spcPts val="1200"/>
              </a:spcAft>
            </a:pPr>
            <a:r>
              <a:rPr sz="1200" b="1" i="0">
                <a:solidFill>
                  <a:srgbClr val="2AD29B"/>
                </a:solidFill>
                <a:latin typeface="Arial"/>
              </a:rPr>
              <a:t>▪  </a:t>
            </a:r>
            <a:r>
              <a:rPr sz="1450" b="0" i="0">
                <a:solidFill>
                  <a:srgbClr val="EAF1F9"/>
                </a:solidFill>
                <a:latin typeface="Arial"/>
              </a:rPr>
              <a:t>An </a:t>
            </a:r>
            <a:r>
              <a:rPr sz="1450" b="0" i="0">
                <a:solidFill>
                  <a:srgbClr val="8A98AD"/>
                </a:solidFill>
                <a:latin typeface="Arial"/>
              </a:rPr>
              <a:t>open, real-time junk-triage copilot</a:t>
            </a:r>
            <a:r>
              <a:rPr sz="1450" b="0" i="0">
                <a:solidFill>
                  <a:srgbClr val="EAF1F9"/>
                </a:solidFill>
                <a:latin typeface="Arial"/>
              </a:rPr>
              <a:t> with a live HITL learning loop.</a:t>
            </a:r>
          </a:p>
          <a:p>
            <a:pPr>
              <a:lnSpc>
                <a:spcPct val="113000"/>
              </a:lnSpc>
              <a:spcAft>
                <a:spcPts val="1200"/>
              </a:spcAft>
            </a:pPr>
            <a:r>
              <a:rPr sz="1200" b="1" i="0">
                <a:solidFill>
                  <a:srgbClr val="2AD29B"/>
                </a:solidFill>
                <a:latin typeface="Arial"/>
              </a:rPr>
              <a:t>▪  </a:t>
            </a:r>
            <a:r>
              <a:rPr sz="1450" b="0" i="0">
                <a:solidFill>
                  <a:srgbClr val="EAF1F9"/>
                </a:solidFill>
                <a:latin typeface="Arial"/>
              </a:rPr>
              <a:t>Swappable pickers + classifiers, 7+ datasets, upload-your-own, clean export.</a:t>
            </a:r>
          </a:p>
          <a:p>
            <a:pPr>
              <a:lnSpc>
                <a:spcPct val="113000"/>
              </a:lnSpc>
              <a:spcAft>
                <a:spcPts val="1200"/>
              </a:spcAft>
            </a:pPr>
            <a:r>
              <a:rPr sz="1200" b="1" i="0">
                <a:solidFill>
                  <a:srgbClr val="2AD29B"/>
                </a:solidFill>
                <a:latin typeface="Arial"/>
              </a:rPr>
              <a:t>▪  </a:t>
            </a:r>
            <a:r>
              <a:rPr sz="1450" b="0" i="0">
                <a:solidFill>
                  <a:srgbClr val="8A98AD"/>
                </a:solidFill>
                <a:latin typeface="Arial"/>
              </a:rPr>
              <a:t>Honest measurement</a:t>
            </a:r>
            <a:r>
              <a:rPr sz="1450" b="0" i="0">
                <a:solidFill>
                  <a:srgbClr val="EAF1F9"/>
                </a:solidFill>
                <a:latin typeface="Arial"/>
              </a:rPr>
              <a:t> against CryoPPP — held-out, in-sample labelled as such.</a:t>
            </a:r>
          </a:p>
        </p:txBody>
      </p:sp>
      <p:sp>
        <p:nvSpPr>
          <p:cNvPr id="7" name="TextBox 6"/>
          <p:cNvSpPr txBox="1"/>
          <p:nvPr/>
        </p:nvSpPr>
        <p:spPr>
          <a:xfrm>
            <a:off x="6492240" y="2148840"/>
            <a:ext cx="5029200" cy="274320"/>
          </a:xfrm>
          <a:prstGeom prst="rect">
            <a:avLst/>
          </a:prstGeom>
          <a:noFill/>
        </p:spPr>
        <p:txBody>
          <a:bodyPr wrap="square" anchor="t" lIns="0" rIns="0" tIns="0" bIns="0">
            <a:spAutoFit/>
          </a:bodyPr>
          <a:lstStyle/>
          <a:p>
            <a:r>
              <a:rPr sz="1100" b="1" i="0">
                <a:solidFill>
                  <a:srgbClr val="5F6E84"/>
                </a:solidFill>
                <a:latin typeface="Arial"/>
              </a:rPr>
              <a:t>WE DO NOT CLAIM</a:t>
            </a:r>
          </a:p>
        </p:txBody>
      </p:sp>
      <p:sp>
        <p:nvSpPr>
          <p:cNvPr id="8" name="TextBox 7"/>
          <p:cNvSpPr txBox="1"/>
          <p:nvPr/>
        </p:nvSpPr>
        <p:spPr>
          <a:xfrm>
            <a:off x="6492240" y="2468880"/>
            <a:ext cx="5029200" cy="2377440"/>
          </a:xfrm>
          <a:prstGeom prst="rect">
            <a:avLst/>
          </a:prstGeom>
          <a:noFill/>
        </p:spPr>
        <p:txBody>
          <a:bodyPr wrap="square" anchor="t" lIns="0" rIns="0" tIns="0" bIns="0">
            <a:spAutoFit/>
          </a:bodyPr>
          <a:lstStyle/>
          <a:p>
            <a:pPr>
              <a:lnSpc>
                <a:spcPct val="113000"/>
              </a:lnSpc>
              <a:spcAft>
                <a:spcPts val="1200"/>
              </a:spcAft>
            </a:pPr>
            <a:r>
              <a:rPr sz="1200" b="1" i="0">
                <a:solidFill>
                  <a:srgbClr val="E7635B"/>
                </a:solidFill>
                <a:latin typeface="Arial"/>
              </a:rPr>
              <a:t>▪  </a:t>
            </a:r>
            <a:r>
              <a:rPr sz="1450" b="0" i="0">
                <a:solidFill>
                  <a:srgbClr val="EAF1F9"/>
                </a:solidFill>
                <a:latin typeface="Arial"/>
              </a:rPr>
              <a:t>A novel picking model or a novel ML algorithm.</a:t>
            </a:r>
          </a:p>
          <a:p>
            <a:pPr>
              <a:lnSpc>
                <a:spcPct val="113000"/>
              </a:lnSpc>
              <a:spcAft>
                <a:spcPts val="1200"/>
              </a:spcAft>
            </a:pPr>
            <a:r>
              <a:rPr sz="1200" b="1" i="0">
                <a:solidFill>
                  <a:srgbClr val="E7635B"/>
                </a:solidFill>
                <a:latin typeface="Arial"/>
              </a:rPr>
              <a:t>▪  </a:t>
            </a:r>
            <a:r>
              <a:rPr sz="1450" b="0" i="0">
                <a:solidFill>
                  <a:srgbClr val="EAF1F9"/>
                </a:solidFill>
                <a:latin typeface="Arial"/>
              </a:rPr>
              <a:t>To beat deep-learning pickers' picking-F1 — swap one in; it's in the menu.</a:t>
            </a:r>
          </a:p>
          <a:p>
            <a:pPr>
              <a:lnSpc>
                <a:spcPct val="113000"/>
              </a:lnSpc>
              <a:spcAft>
                <a:spcPts val="1200"/>
              </a:spcAft>
            </a:pPr>
            <a:r>
              <a:rPr sz="1200" b="1" i="0">
                <a:solidFill>
                  <a:srgbClr val="E7635B"/>
                </a:solidFill>
                <a:latin typeface="Arial"/>
              </a:rPr>
              <a:t>▪  </a:t>
            </a:r>
            <a:r>
              <a:rPr sz="1450" b="0" i="0">
                <a:solidFill>
                  <a:srgbClr val="EAF1F9"/>
                </a:solidFill>
                <a:latin typeface="Arial"/>
              </a:rPr>
              <a:t>cryoSPARC-grade 2D on a hard protein from a laptop.</a:t>
            </a:r>
          </a:p>
        </p:txBody>
      </p:sp>
      <p:sp>
        <p:nvSpPr>
          <p:cNvPr id="9" name="Rounded Rectangle 8"/>
          <p:cNvSpPr/>
          <p:nvPr/>
        </p:nvSpPr>
        <p:spPr>
          <a:xfrm>
            <a:off x="685800" y="5074920"/>
            <a:ext cx="10820095" cy="1051560"/>
          </a:xfrm>
          <a:prstGeom prst="roundRect">
            <a:avLst>
              <a:gd name="adj" fmla="val 7000"/>
            </a:avLst>
          </a:prstGeom>
          <a:solidFill>
            <a:srgbClr val="171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5074920"/>
            <a:ext cx="54864" cy="1051560"/>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221224"/>
            <a:ext cx="10362895" cy="777239"/>
          </a:xfrm>
          <a:prstGeom prst="rect">
            <a:avLst/>
          </a:prstGeom>
          <a:noFill/>
        </p:spPr>
        <p:txBody>
          <a:bodyPr wrap="square" anchor="ctr" lIns="0" rIns="0" tIns="0" bIns="0">
            <a:spAutoFit/>
          </a:bodyPr>
          <a:lstStyle/>
          <a:p>
            <a:pPr>
              <a:lnSpc>
                <a:spcPct val="116000"/>
              </a:lnSpc>
            </a:pPr>
            <a:r>
              <a:rPr sz="1300" b="0" i="0">
                <a:solidFill>
                  <a:srgbClr val="E9B949"/>
                </a:solidFill>
                <a:latin typeface="Arial"/>
              </a:rPr>
              <a:t>Rubric fit: </a:t>
            </a:r>
            <a:r>
              <a:rPr sz="1300" b="0" i="0">
                <a:solidFill>
                  <a:srgbClr val="8A98AD"/>
                </a:solidFill>
                <a:latin typeface="Arial"/>
              </a:rPr>
              <a:t>Impact (cleaner stacks, live) · Execution (a usable product, not a notebook) · Background variety (CS + hardware + chemistry) · Novelty (the correctable, sub-second-refit junk-triage UX nobody open-ships).</a:t>
            </a:r>
          </a:p>
        </p:txBody>
      </p:sp>
      <p:sp>
        <p:nvSpPr>
          <p:cNvPr id="12" name="TextBox 11"/>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3" name="TextBox 12"/>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11/12</a:t>
            </a:r>
          </a:p>
        </p:txBody>
      </p:sp>
      <p:sp>
        <p:nvSpPr>
          <p:cNvPr id="14" name="Rectangle 13"/>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783080"/>
            <a:ext cx="10820095" cy="365760"/>
          </a:xfrm>
          <a:prstGeom prst="rect">
            <a:avLst/>
          </a:prstGeom>
          <a:noFill/>
        </p:spPr>
        <p:txBody>
          <a:bodyPr wrap="square" anchor="t" lIns="0" rIns="0" tIns="0" bIns="0">
            <a:spAutoFit/>
          </a:bodyPr>
          <a:lstStyle/>
          <a:p>
            <a:r>
              <a:rPr sz="1250" b="1" i="0">
                <a:solidFill>
                  <a:srgbClr val="4EA1FF"/>
                </a:solidFill>
                <a:latin typeface="Arial"/>
              </a:rPr>
              <a:t>OPEN SOURCE · MIT · SINGLE GPU</a:t>
            </a:r>
          </a:p>
        </p:txBody>
      </p:sp>
      <p:sp>
        <p:nvSpPr>
          <p:cNvPr id="4" name="TextBox 3"/>
          <p:cNvSpPr txBox="1"/>
          <p:nvPr/>
        </p:nvSpPr>
        <p:spPr>
          <a:xfrm>
            <a:off x="685800" y="2240280"/>
            <a:ext cx="10820095" cy="1828800"/>
          </a:xfrm>
          <a:prstGeom prst="rect">
            <a:avLst/>
          </a:prstGeom>
          <a:noFill/>
        </p:spPr>
        <p:txBody>
          <a:bodyPr wrap="square" anchor="t" lIns="0" rIns="0" tIns="0" bIns="0">
            <a:spAutoFit/>
          </a:bodyPr>
          <a:lstStyle/>
          <a:p>
            <a:pPr>
              <a:lnSpc>
                <a:spcPct val="105000"/>
              </a:lnSpc>
            </a:pPr>
            <a:r>
              <a:rPr sz="4000" b="1" i="0">
                <a:solidFill>
                  <a:srgbClr val="EAF1F9"/>
                </a:solidFill>
                <a:latin typeface="Arial"/>
              </a:rPr>
              <a:t>Picking + junk-cleaning,</a:t>
            </a:r>
          </a:p>
          <a:p>
            <a:r>
              <a:rPr sz="4000" b="1" i="0">
                <a:solidFill>
                  <a:srgbClr val="2AD29B"/>
                </a:solidFill>
                <a:latin typeface="Arial"/>
              </a:rPr>
              <a:t>interactive, real-time, and measurable.</a:t>
            </a:r>
          </a:p>
        </p:txBody>
      </p:sp>
      <p:sp>
        <p:nvSpPr>
          <p:cNvPr id="5" name="TextBox 4"/>
          <p:cNvSpPr txBox="1"/>
          <p:nvPr/>
        </p:nvSpPr>
        <p:spPr>
          <a:xfrm>
            <a:off x="685800" y="4069080"/>
            <a:ext cx="8656076" cy="914400"/>
          </a:xfrm>
          <a:prstGeom prst="rect">
            <a:avLst/>
          </a:prstGeom>
          <a:noFill/>
        </p:spPr>
        <p:txBody>
          <a:bodyPr wrap="square" anchor="t" lIns="0" rIns="0" tIns="0" bIns="0">
            <a:spAutoFit/>
          </a:bodyPr>
          <a:lstStyle/>
          <a:p>
            <a:pPr>
              <a:lnSpc>
                <a:spcPct val="120000"/>
              </a:lnSpc>
            </a:pPr>
            <a:r>
              <a:rPr sz="1600" b="0" i="0">
                <a:solidFill>
                  <a:srgbClr val="8A98AD"/>
                </a:solidFill>
                <a:latin typeface="Arial"/>
              </a:rPr>
              <a:t>CryoClear turns post-hoc, manual junk removal into a live copilot that cleans the stack as data streams in — and proves it with honest metrics and 2D class averages.</a:t>
            </a:r>
          </a:p>
        </p:txBody>
      </p:sp>
      <p:sp>
        <p:nvSpPr>
          <p:cNvPr id="6" name="Rounded Rectangle 5"/>
          <p:cNvSpPr/>
          <p:nvPr/>
        </p:nvSpPr>
        <p:spPr>
          <a:xfrm>
            <a:off x="685800" y="5349240"/>
            <a:ext cx="3511296" cy="45720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5532120"/>
            <a:ext cx="109728" cy="109728"/>
          </a:xfrm>
          <a:prstGeom prst="ellipse">
            <a:avLst/>
          </a:prstGeom>
          <a:solidFill>
            <a:srgbClr val="2AD2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5349240"/>
            <a:ext cx="3008376" cy="457200"/>
          </a:xfrm>
          <a:prstGeom prst="rect">
            <a:avLst/>
          </a:prstGeom>
          <a:noFill/>
        </p:spPr>
        <p:txBody>
          <a:bodyPr wrap="square" anchor="ctr" lIns="0" rIns="0" tIns="0" bIns="0">
            <a:spAutoFit/>
          </a:bodyPr>
          <a:lstStyle/>
          <a:p>
            <a:r>
              <a:rPr sz="1250" b="0" i="0">
                <a:solidFill>
                  <a:srgbClr val="8A98AD"/>
                </a:solidFill>
                <a:latin typeface="Arial"/>
              </a:rPr>
              <a:t>Single GPU — core path is CPU-light</a:t>
            </a:r>
          </a:p>
        </p:txBody>
      </p:sp>
      <p:sp>
        <p:nvSpPr>
          <p:cNvPr id="9" name="Rounded Rectangle 8"/>
          <p:cNvSpPr/>
          <p:nvPr/>
        </p:nvSpPr>
        <p:spPr>
          <a:xfrm>
            <a:off x="4379976" y="5349240"/>
            <a:ext cx="2585923" cy="45720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62856" y="5532120"/>
            <a:ext cx="109728" cy="109728"/>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91456" y="5349240"/>
            <a:ext cx="2083003" cy="457200"/>
          </a:xfrm>
          <a:prstGeom prst="rect">
            <a:avLst/>
          </a:prstGeom>
          <a:noFill/>
        </p:spPr>
        <p:txBody>
          <a:bodyPr wrap="square" anchor="ctr" lIns="0" rIns="0" tIns="0" bIns="0">
            <a:spAutoFit/>
          </a:bodyPr>
          <a:lstStyle/>
          <a:p>
            <a:r>
              <a:rPr sz="1250" b="0" i="0">
                <a:solidFill>
                  <a:srgbClr val="8A98AD"/>
                </a:solidFill>
                <a:latin typeface="Arial"/>
              </a:rPr>
              <a:t>MIT-licensed, fully open</a:t>
            </a:r>
          </a:p>
        </p:txBody>
      </p:sp>
      <p:sp>
        <p:nvSpPr>
          <p:cNvPr id="12" name="Rounded Rectangle 11"/>
          <p:cNvSpPr/>
          <p:nvPr/>
        </p:nvSpPr>
        <p:spPr>
          <a:xfrm>
            <a:off x="7148779" y="5349240"/>
            <a:ext cx="2670048" cy="457200"/>
          </a:xfrm>
          <a:prstGeom prst="roundRect">
            <a:avLst>
              <a:gd name="adj" fmla="val 7000"/>
            </a:avLst>
          </a:prstGeom>
          <a:solidFill>
            <a:srgbClr val="0E1520"/>
          </a:solidFill>
          <a:ln w="12700">
            <a:solidFill>
              <a:srgbClr val="1F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31659" y="5532120"/>
            <a:ext cx="109728" cy="109728"/>
          </a:xfrm>
          <a:prstGeom prst="ellipse">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60259" y="5349240"/>
            <a:ext cx="2167128" cy="457200"/>
          </a:xfrm>
          <a:prstGeom prst="rect">
            <a:avLst/>
          </a:prstGeom>
          <a:noFill/>
        </p:spPr>
        <p:txBody>
          <a:bodyPr wrap="square" anchor="ctr" lIns="0" rIns="0" tIns="0" bIns="0">
            <a:spAutoFit/>
          </a:bodyPr>
          <a:lstStyle/>
          <a:p>
            <a:r>
              <a:rPr sz="1250" b="0" i="0">
                <a:solidFill>
                  <a:srgbClr val="8A98AD"/>
                </a:solidFill>
                <a:latin typeface="Arial"/>
              </a:rPr>
              <a:t>CS · Hardware · Chemistry</a:t>
            </a:r>
          </a:p>
        </p:txBody>
      </p:sp>
      <p:sp>
        <p:nvSpPr>
          <p:cNvPr id="15" name="TextBox 14"/>
          <p:cNvSpPr txBox="1"/>
          <p:nvPr/>
        </p:nvSpPr>
        <p:spPr>
          <a:xfrm>
            <a:off x="685800" y="6355080"/>
            <a:ext cx="10820095" cy="320040"/>
          </a:xfrm>
          <a:prstGeom prst="rect">
            <a:avLst/>
          </a:prstGeom>
          <a:noFill/>
        </p:spPr>
        <p:txBody>
          <a:bodyPr wrap="square" anchor="t" lIns="0" rIns="0" tIns="0" bIns="0">
            <a:spAutoFit/>
          </a:bodyPr>
          <a:lstStyle/>
          <a:p>
            <a:r>
              <a:rPr sz="1000" b="1" i="0">
                <a:solidFill>
                  <a:srgbClr val="EAF1F9"/>
                </a:solidFill>
                <a:latin typeface="Arial"/>
              </a:rPr>
              <a:t>CryoClear</a:t>
            </a:r>
            <a:r>
              <a:rPr sz="1000" b="0" i="0">
                <a:solidFill>
                  <a:srgbClr val="5F6E84"/>
                </a:solidFill>
                <a:latin typeface="Arial"/>
              </a:rPr>
              <a:t>   ·  open real-time cryo-EM junk-triage copilot</a:t>
            </a:r>
          </a:p>
        </p:txBody>
      </p:sp>
      <p:sp>
        <p:nvSpPr>
          <p:cNvPr id="16" name="TextBox 15"/>
          <p:cNvSpPr txBox="1"/>
          <p:nvPr/>
        </p:nvSpPr>
        <p:spPr>
          <a:xfrm>
            <a:off x="7894015" y="6355080"/>
            <a:ext cx="3611880" cy="320040"/>
          </a:xfrm>
          <a:prstGeom prst="rect">
            <a:avLst/>
          </a:prstGeom>
          <a:noFill/>
        </p:spPr>
        <p:txBody>
          <a:bodyPr wrap="square" anchor="t" lIns="0" rIns="0" tIns="0" bIns="0">
            <a:spAutoFit/>
          </a:bodyPr>
          <a:lstStyle/>
          <a:p>
            <a:pPr algn="r"/>
            <a:r>
              <a:rPr sz="1000" b="0" i="0">
                <a:solidFill>
                  <a:srgbClr val="5F6E84"/>
                </a:solidFill>
                <a:latin typeface="Arial"/>
              </a:rPr>
              <a:t>QBI Hackathon 2026 · UCSF · MIT   |   12/12</a:t>
            </a:r>
          </a:p>
        </p:txBody>
      </p:sp>
      <p:sp>
        <p:nvSpPr>
          <p:cNvPr id="17" name="Rectangle 16"/>
          <p:cNvSpPr/>
          <p:nvPr/>
        </p:nvSpPr>
        <p:spPr>
          <a:xfrm>
            <a:off x="685800" y="6291072"/>
            <a:ext cx="10820095" cy="9525"/>
          </a:xfrm>
          <a:prstGeom prst="rect">
            <a:avLst/>
          </a:prstGeom>
          <a:solidFill>
            <a:srgbClr val="1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